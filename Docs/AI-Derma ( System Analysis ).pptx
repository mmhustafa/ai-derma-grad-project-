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4" r:id="rId9"/>
    <p:sldId id="285" r:id="rId10"/>
    <p:sldId id="296" r:id="rId11"/>
    <p:sldId id="297" r:id="rId12"/>
    <p:sldId id="294" r:id="rId13"/>
    <p:sldId id="266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918B8B-E28F-4DC5-AAA0-C27A0315D79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9DD8876-D6B7-4853-AE18-33F79E66B278}">
      <dgm:prSet/>
      <dgm:spPr/>
      <dgm:t>
        <a:bodyPr/>
        <a:lstStyle/>
        <a:p>
          <a:r>
            <a:rPr lang="en-US"/>
            <a:t>Mobile AI screening: Build a user-friendly app that analyzes photos of skin lesions and identifies the condition. </a:t>
          </a:r>
        </a:p>
      </dgm:t>
    </dgm:pt>
    <dgm:pt modelId="{5C2B1DDE-FB80-4608-9E7E-C988FDCFA311}" type="parTrans" cxnId="{8A867915-93EE-4231-848C-F8476205546D}">
      <dgm:prSet/>
      <dgm:spPr/>
      <dgm:t>
        <a:bodyPr/>
        <a:lstStyle/>
        <a:p>
          <a:endParaRPr lang="en-US"/>
        </a:p>
      </dgm:t>
    </dgm:pt>
    <dgm:pt modelId="{5850C8C3-B283-410E-9E50-DF63C35503E4}" type="sibTrans" cxnId="{8A867915-93EE-4231-848C-F8476205546D}">
      <dgm:prSet/>
      <dgm:spPr/>
      <dgm:t>
        <a:bodyPr/>
        <a:lstStyle/>
        <a:p>
          <a:endParaRPr lang="en-US"/>
        </a:p>
      </dgm:t>
    </dgm:pt>
    <dgm:pt modelId="{7470E1F9-1A5F-430F-BCA6-7B266C15E745}">
      <dgm:prSet/>
      <dgm:spPr/>
      <dgm:t>
        <a:bodyPr/>
        <a:lstStyle/>
        <a:p>
          <a:r>
            <a:rPr lang="en-US"/>
            <a:t>Accurate classification: Employ machine learning  to predict the skin disease, providing a confidence score for each result. </a:t>
          </a:r>
        </a:p>
      </dgm:t>
    </dgm:pt>
    <dgm:pt modelId="{1969E7EB-0282-406C-BA92-29F474FD34D8}" type="parTrans" cxnId="{CDE7AC23-559A-40AF-A45E-3A3622FAB0D0}">
      <dgm:prSet/>
      <dgm:spPr/>
      <dgm:t>
        <a:bodyPr/>
        <a:lstStyle/>
        <a:p>
          <a:endParaRPr lang="en-US"/>
        </a:p>
      </dgm:t>
    </dgm:pt>
    <dgm:pt modelId="{1CEDD065-B8A7-47B9-AE24-6523765C1D0E}" type="sibTrans" cxnId="{CDE7AC23-559A-40AF-A45E-3A3622FAB0D0}">
      <dgm:prSet/>
      <dgm:spPr/>
      <dgm:t>
        <a:bodyPr/>
        <a:lstStyle/>
        <a:p>
          <a:endParaRPr lang="en-US"/>
        </a:p>
      </dgm:t>
    </dgm:pt>
    <dgm:pt modelId="{3A303FDB-A768-402B-A119-DD4C4B0644C0}">
      <dgm:prSet/>
      <dgm:spPr/>
      <dgm:t>
        <a:bodyPr/>
        <a:lstStyle/>
        <a:p>
          <a:r>
            <a:rPr lang="en-US"/>
            <a:t>User guidance: Deliver clear explanations and self-care tips for the detected condition, and advise when to seek medical attention. </a:t>
          </a:r>
        </a:p>
      </dgm:t>
    </dgm:pt>
    <dgm:pt modelId="{9149BBCA-7FFF-4158-AAD9-E022CA401608}" type="parTrans" cxnId="{81C654FB-B5E6-40E3-B5FB-898135099E54}">
      <dgm:prSet/>
      <dgm:spPr/>
      <dgm:t>
        <a:bodyPr/>
        <a:lstStyle/>
        <a:p>
          <a:endParaRPr lang="en-US"/>
        </a:p>
      </dgm:t>
    </dgm:pt>
    <dgm:pt modelId="{863061E7-1573-42E2-9683-F0146EAA3D4C}" type="sibTrans" cxnId="{81C654FB-B5E6-40E3-B5FB-898135099E54}">
      <dgm:prSet/>
      <dgm:spPr/>
      <dgm:t>
        <a:bodyPr/>
        <a:lstStyle/>
        <a:p>
          <a:endParaRPr lang="en-US"/>
        </a:p>
      </dgm:t>
    </dgm:pt>
    <dgm:pt modelId="{50DE6940-5193-4B72-B8D8-31B365694567}">
      <dgm:prSet/>
      <dgm:spPr/>
      <dgm:t>
        <a:bodyPr/>
        <a:lstStyle/>
        <a:p>
          <a:r>
            <a:rPr lang="en-US"/>
            <a:t>Early detection: Empower users to catch serious issues early (e.g. spotting melanoma sooner, which greatly improves survival ). </a:t>
          </a:r>
        </a:p>
      </dgm:t>
    </dgm:pt>
    <dgm:pt modelId="{101BA5FB-6581-485D-B5CE-D7E1CB337AD7}" type="parTrans" cxnId="{EBCA5DE1-6829-47B1-82FB-2D19310E80EA}">
      <dgm:prSet/>
      <dgm:spPr/>
      <dgm:t>
        <a:bodyPr/>
        <a:lstStyle/>
        <a:p>
          <a:endParaRPr lang="en-US"/>
        </a:p>
      </dgm:t>
    </dgm:pt>
    <dgm:pt modelId="{C79F8DF6-5718-45DE-87BB-07E77ECD26FC}" type="sibTrans" cxnId="{EBCA5DE1-6829-47B1-82FB-2D19310E80EA}">
      <dgm:prSet/>
      <dgm:spPr/>
      <dgm:t>
        <a:bodyPr/>
        <a:lstStyle/>
        <a:p>
          <a:endParaRPr lang="en-US"/>
        </a:p>
      </dgm:t>
    </dgm:pt>
    <dgm:pt modelId="{4D364BC5-43D2-4C41-BCD6-E23A8E660CDB}">
      <dgm:prSet/>
      <dgm:spPr/>
      <dgm:t>
        <a:bodyPr/>
        <a:lstStyle/>
        <a:p>
          <a:r>
            <a:rPr lang="en-US"/>
            <a:t>Improved access: Extend basic dermatology support to remote or underserved communities, aligning with WHO recommendations for digital health tools</a:t>
          </a:r>
        </a:p>
      </dgm:t>
    </dgm:pt>
    <dgm:pt modelId="{CE3694D8-A446-4C15-B013-5BE97E4827B8}" type="parTrans" cxnId="{6F7C30A1-F4F5-4726-A5DE-9C525DCB028F}">
      <dgm:prSet/>
      <dgm:spPr/>
      <dgm:t>
        <a:bodyPr/>
        <a:lstStyle/>
        <a:p>
          <a:endParaRPr lang="en-US"/>
        </a:p>
      </dgm:t>
    </dgm:pt>
    <dgm:pt modelId="{4388EDFC-5133-443F-B090-6C16829385EC}" type="sibTrans" cxnId="{6F7C30A1-F4F5-4726-A5DE-9C525DCB028F}">
      <dgm:prSet/>
      <dgm:spPr/>
      <dgm:t>
        <a:bodyPr/>
        <a:lstStyle/>
        <a:p>
          <a:endParaRPr lang="en-US"/>
        </a:p>
      </dgm:t>
    </dgm:pt>
    <dgm:pt modelId="{05042526-D9E9-40E6-8D60-30EFB8141090}" type="pres">
      <dgm:prSet presAssocID="{16918B8B-E28F-4DC5-AAA0-C27A0315D79A}" presName="root" presStyleCnt="0">
        <dgm:presLayoutVars>
          <dgm:dir/>
          <dgm:resizeHandles val="exact"/>
        </dgm:presLayoutVars>
      </dgm:prSet>
      <dgm:spPr/>
    </dgm:pt>
    <dgm:pt modelId="{F7106BFB-0850-45BD-96A5-4051FF178AA6}" type="pres">
      <dgm:prSet presAssocID="{69DD8876-D6B7-4853-AE18-33F79E66B278}" presName="compNode" presStyleCnt="0"/>
      <dgm:spPr/>
    </dgm:pt>
    <dgm:pt modelId="{1D422E12-59EF-486E-B1B9-B7FA2D06AB5E}" type="pres">
      <dgm:prSet presAssocID="{69DD8876-D6B7-4853-AE18-33F79E66B27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4DB45CBC-43CF-4C56-A9C8-97AF70F9054C}" type="pres">
      <dgm:prSet presAssocID="{69DD8876-D6B7-4853-AE18-33F79E66B278}" presName="spaceRect" presStyleCnt="0"/>
      <dgm:spPr/>
    </dgm:pt>
    <dgm:pt modelId="{C1ABD852-C5BF-49B4-AA83-BB8809DA89E3}" type="pres">
      <dgm:prSet presAssocID="{69DD8876-D6B7-4853-AE18-33F79E66B278}" presName="textRect" presStyleLbl="revTx" presStyleIdx="0" presStyleCnt="5">
        <dgm:presLayoutVars>
          <dgm:chMax val="1"/>
          <dgm:chPref val="1"/>
        </dgm:presLayoutVars>
      </dgm:prSet>
      <dgm:spPr/>
    </dgm:pt>
    <dgm:pt modelId="{FD375090-DB78-4E91-9FCC-14F4255BC1C5}" type="pres">
      <dgm:prSet presAssocID="{5850C8C3-B283-410E-9E50-DF63C35503E4}" presName="sibTrans" presStyleCnt="0"/>
      <dgm:spPr/>
    </dgm:pt>
    <dgm:pt modelId="{4FEE5D43-249C-4C51-A2AC-0839272FFB1D}" type="pres">
      <dgm:prSet presAssocID="{7470E1F9-1A5F-430F-BCA6-7B266C15E745}" presName="compNode" presStyleCnt="0"/>
      <dgm:spPr/>
    </dgm:pt>
    <dgm:pt modelId="{413E30F0-B21D-4893-BEC9-52DC796F1C04}" type="pres">
      <dgm:prSet presAssocID="{7470E1F9-1A5F-430F-BCA6-7B266C15E74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777D0AB3-4DBA-418A-B8E4-47B8684FACCF}" type="pres">
      <dgm:prSet presAssocID="{7470E1F9-1A5F-430F-BCA6-7B266C15E745}" presName="spaceRect" presStyleCnt="0"/>
      <dgm:spPr/>
    </dgm:pt>
    <dgm:pt modelId="{02B56D40-AD73-4E14-85B2-88C2A4AB1127}" type="pres">
      <dgm:prSet presAssocID="{7470E1F9-1A5F-430F-BCA6-7B266C15E745}" presName="textRect" presStyleLbl="revTx" presStyleIdx="1" presStyleCnt="5">
        <dgm:presLayoutVars>
          <dgm:chMax val="1"/>
          <dgm:chPref val="1"/>
        </dgm:presLayoutVars>
      </dgm:prSet>
      <dgm:spPr/>
    </dgm:pt>
    <dgm:pt modelId="{21412BE7-8F6A-46B5-BA32-C0C5E79D96C8}" type="pres">
      <dgm:prSet presAssocID="{1CEDD065-B8A7-47B9-AE24-6523765C1D0E}" presName="sibTrans" presStyleCnt="0"/>
      <dgm:spPr/>
    </dgm:pt>
    <dgm:pt modelId="{E180750A-7C25-418B-93DE-FB5433A995F1}" type="pres">
      <dgm:prSet presAssocID="{3A303FDB-A768-402B-A119-DD4C4B0644C0}" presName="compNode" presStyleCnt="0"/>
      <dgm:spPr/>
    </dgm:pt>
    <dgm:pt modelId="{9F7DD678-1630-4154-B003-A36921276C31}" type="pres">
      <dgm:prSet presAssocID="{3A303FDB-A768-402B-A119-DD4C4B0644C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C17DCE73-CC3C-4529-855D-926318E04942}" type="pres">
      <dgm:prSet presAssocID="{3A303FDB-A768-402B-A119-DD4C4B0644C0}" presName="spaceRect" presStyleCnt="0"/>
      <dgm:spPr/>
    </dgm:pt>
    <dgm:pt modelId="{3A135BB8-AE08-4D60-8992-4AB63F26D5D2}" type="pres">
      <dgm:prSet presAssocID="{3A303FDB-A768-402B-A119-DD4C4B0644C0}" presName="textRect" presStyleLbl="revTx" presStyleIdx="2" presStyleCnt="5">
        <dgm:presLayoutVars>
          <dgm:chMax val="1"/>
          <dgm:chPref val="1"/>
        </dgm:presLayoutVars>
      </dgm:prSet>
      <dgm:spPr/>
    </dgm:pt>
    <dgm:pt modelId="{7320A42A-BC8D-4513-85E6-6BE12A92EDC8}" type="pres">
      <dgm:prSet presAssocID="{863061E7-1573-42E2-9683-F0146EAA3D4C}" presName="sibTrans" presStyleCnt="0"/>
      <dgm:spPr/>
    </dgm:pt>
    <dgm:pt modelId="{1697F42F-0802-4D29-980C-ABAD3EC2E08D}" type="pres">
      <dgm:prSet presAssocID="{50DE6940-5193-4B72-B8D8-31B365694567}" presName="compNode" presStyleCnt="0"/>
      <dgm:spPr/>
    </dgm:pt>
    <dgm:pt modelId="{7B5291C9-D306-4CFD-8001-B5DF7BF05B2B}" type="pres">
      <dgm:prSet presAssocID="{50DE6940-5193-4B72-B8D8-31B36569456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0EDF1F17-7FE3-46DB-9958-70ECA77DA641}" type="pres">
      <dgm:prSet presAssocID="{50DE6940-5193-4B72-B8D8-31B365694567}" presName="spaceRect" presStyleCnt="0"/>
      <dgm:spPr/>
    </dgm:pt>
    <dgm:pt modelId="{13AB3200-0252-4A1D-BE3B-36A7BCEBB932}" type="pres">
      <dgm:prSet presAssocID="{50DE6940-5193-4B72-B8D8-31B365694567}" presName="textRect" presStyleLbl="revTx" presStyleIdx="3" presStyleCnt="5">
        <dgm:presLayoutVars>
          <dgm:chMax val="1"/>
          <dgm:chPref val="1"/>
        </dgm:presLayoutVars>
      </dgm:prSet>
      <dgm:spPr/>
    </dgm:pt>
    <dgm:pt modelId="{4C1E3DD5-A583-447F-88A7-BE503E1F49C1}" type="pres">
      <dgm:prSet presAssocID="{C79F8DF6-5718-45DE-87BB-07E77ECD26FC}" presName="sibTrans" presStyleCnt="0"/>
      <dgm:spPr/>
    </dgm:pt>
    <dgm:pt modelId="{A39F221B-5877-4DB8-BA8F-CFF20EA544C9}" type="pres">
      <dgm:prSet presAssocID="{4D364BC5-43D2-4C41-BCD6-E23A8E660CDB}" presName="compNode" presStyleCnt="0"/>
      <dgm:spPr/>
    </dgm:pt>
    <dgm:pt modelId="{35096FDE-3340-42C8-8D55-8324E83CCBB3}" type="pres">
      <dgm:prSet presAssocID="{4D364BC5-43D2-4C41-BCD6-E23A8E660CD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79E3BE3B-CC52-4763-A27F-3E8656BD1373}" type="pres">
      <dgm:prSet presAssocID="{4D364BC5-43D2-4C41-BCD6-E23A8E660CDB}" presName="spaceRect" presStyleCnt="0"/>
      <dgm:spPr/>
    </dgm:pt>
    <dgm:pt modelId="{BC34DB3A-661B-46A3-84BE-E8FFDEC63E8F}" type="pres">
      <dgm:prSet presAssocID="{4D364BC5-43D2-4C41-BCD6-E23A8E660CD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AD81903-20E5-49E7-ABB3-82B0EAAB7890}" type="presOf" srcId="{3A303FDB-A768-402B-A119-DD4C4B0644C0}" destId="{3A135BB8-AE08-4D60-8992-4AB63F26D5D2}" srcOrd="0" destOrd="0" presId="urn:microsoft.com/office/officeart/2018/2/layout/IconLabelList"/>
    <dgm:cxn modelId="{8132F407-C430-41BF-BE02-B14AE799883F}" type="presOf" srcId="{4D364BC5-43D2-4C41-BCD6-E23A8E660CDB}" destId="{BC34DB3A-661B-46A3-84BE-E8FFDEC63E8F}" srcOrd="0" destOrd="0" presId="urn:microsoft.com/office/officeart/2018/2/layout/IconLabelList"/>
    <dgm:cxn modelId="{8A867915-93EE-4231-848C-F8476205546D}" srcId="{16918B8B-E28F-4DC5-AAA0-C27A0315D79A}" destId="{69DD8876-D6B7-4853-AE18-33F79E66B278}" srcOrd="0" destOrd="0" parTransId="{5C2B1DDE-FB80-4608-9E7E-C988FDCFA311}" sibTransId="{5850C8C3-B283-410E-9E50-DF63C35503E4}"/>
    <dgm:cxn modelId="{5D627F18-98C4-47CE-9348-75BDE6716AFD}" type="presOf" srcId="{50DE6940-5193-4B72-B8D8-31B365694567}" destId="{13AB3200-0252-4A1D-BE3B-36A7BCEBB932}" srcOrd="0" destOrd="0" presId="urn:microsoft.com/office/officeart/2018/2/layout/IconLabelList"/>
    <dgm:cxn modelId="{CDE7AC23-559A-40AF-A45E-3A3622FAB0D0}" srcId="{16918B8B-E28F-4DC5-AAA0-C27A0315D79A}" destId="{7470E1F9-1A5F-430F-BCA6-7B266C15E745}" srcOrd="1" destOrd="0" parTransId="{1969E7EB-0282-406C-BA92-29F474FD34D8}" sibTransId="{1CEDD065-B8A7-47B9-AE24-6523765C1D0E}"/>
    <dgm:cxn modelId="{01E0D043-6C77-4302-99B9-3650527E7595}" type="presOf" srcId="{69DD8876-D6B7-4853-AE18-33F79E66B278}" destId="{C1ABD852-C5BF-49B4-AA83-BB8809DA89E3}" srcOrd="0" destOrd="0" presId="urn:microsoft.com/office/officeart/2018/2/layout/IconLabelList"/>
    <dgm:cxn modelId="{2B9C374C-8E40-4498-95B6-9EFD10D478AA}" type="presOf" srcId="{16918B8B-E28F-4DC5-AAA0-C27A0315D79A}" destId="{05042526-D9E9-40E6-8D60-30EFB8141090}" srcOrd="0" destOrd="0" presId="urn:microsoft.com/office/officeart/2018/2/layout/IconLabelList"/>
    <dgm:cxn modelId="{6F7C30A1-F4F5-4726-A5DE-9C525DCB028F}" srcId="{16918B8B-E28F-4DC5-AAA0-C27A0315D79A}" destId="{4D364BC5-43D2-4C41-BCD6-E23A8E660CDB}" srcOrd="4" destOrd="0" parTransId="{CE3694D8-A446-4C15-B013-5BE97E4827B8}" sibTransId="{4388EDFC-5133-443F-B090-6C16829385EC}"/>
    <dgm:cxn modelId="{B9E71DC8-888D-4B4D-B825-4DCEC0504635}" type="presOf" srcId="{7470E1F9-1A5F-430F-BCA6-7B266C15E745}" destId="{02B56D40-AD73-4E14-85B2-88C2A4AB1127}" srcOrd="0" destOrd="0" presId="urn:microsoft.com/office/officeart/2018/2/layout/IconLabelList"/>
    <dgm:cxn modelId="{EBCA5DE1-6829-47B1-82FB-2D19310E80EA}" srcId="{16918B8B-E28F-4DC5-AAA0-C27A0315D79A}" destId="{50DE6940-5193-4B72-B8D8-31B365694567}" srcOrd="3" destOrd="0" parTransId="{101BA5FB-6581-485D-B5CE-D7E1CB337AD7}" sibTransId="{C79F8DF6-5718-45DE-87BB-07E77ECD26FC}"/>
    <dgm:cxn modelId="{81C654FB-B5E6-40E3-B5FB-898135099E54}" srcId="{16918B8B-E28F-4DC5-AAA0-C27A0315D79A}" destId="{3A303FDB-A768-402B-A119-DD4C4B0644C0}" srcOrd="2" destOrd="0" parTransId="{9149BBCA-7FFF-4158-AAD9-E022CA401608}" sibTransId="{863061E7-1573-42E2-9683-F0146EAA3D4C}"/>
    <dgm:cxn modelId="{E779FB9D-363C-413A-8E01-14292A526870}" type="presParOf" srcId="{05042526-D9E9-40E6-8D60-30EFB8141090}" destId="{F7106BFB-0850-45BD-96A5-4051FF178AA6}" srcOrd="0" destOrd="0" presId="urn:microsoft.com/office/officeart/2018/2/layout/IconLabelList"/>
    <dgm:cxn modelId="{016ED7B3-A35E-4751-AB3E-0F189C450317}" type="presParOf" srcId="{F7106BFB-0850-45BD-96A5-4051FF178AA6}" destId="{1D422E12-59EF-486E-B1B9-B7FA2D06AB5E}" srcOrd="0" destOrd="0" presId="urn:microsoft.com/office/officeart/2018/2/layout/IconLabelList"/>
    <dgm:cxn modelId="{7D91AA31-BEDB-4C8E-BFC4-8CF67ABDB938}" type="presParOf" srcId="{F7106BFB-0850-45BD-96A5-4051FF178AA6}" destId="{4DB45CBC-43CF-4C56-A9C8-97AF70F9054C}" srcOrd="1" destOrd="0" presId="urn:microsoft.com/office/officeart/2018/2/layout/IconLabelList"/>
    <dgm:cxn modelId="{AD515897-106A-4ACB-B909-FEE21C2CC272}" type="presParOf" srcId="{F7106BFB-0850-45BD-96A5-4051FF178AA6}" destId="{C1ABD852-C5BF-49B4-AA83-BB8809DA89E3}" srcOrd="2" destOrd="0" presId="urn:microsoft.com/office/officeart/2018/2/layout/IconLabelList"/>
    <dgm:cxn modelId="{05C3F27E-ABB1-449C-9E57-F56B50B492A6}" type="presParOf" srcId="{05042526-D9E9-40E6-8D60-30EFB8141090}" destId="{FD375090-DB78-4E91-9FCC-14F4255BC1C5}" srcOrd="1" destOrd="0" presId="urn:microsoft.com/office/officeart/2018/2/layout/IconLabelList"/>
    <dgm:cxn modelId="{A461AF08-FACB-4D51-A87C-32EE9AC3232C}" type="presParOf" srcId="{05042526-D9E9-40E6-8D60-30EFB8141090}" destId="{4FEE5D43-249C-4C51-A2AC-0839272FFB1D}" srcOrd="2" destOrd="0" presId="urn:microsoft.com/office/officeart/2018/2/layout/IconLabelList"/>
    <dgm:cxn modelId="{1E682A47-AF43-4F5B-AB21-5B72DC02C180}" type="presParOf" srcId="{4FEE5D43-249C-4C51-A2AC-0839272FFB1D}" destId="{413E30F0-B21D-4893-BEC9-52DC796F1C04}" srcOrd="0" destOrd="0" presId="urn:microsoft.com/office/officeart/2018/2/layout/IconLabelList"/>
    <dgm:cxn modelId="{0FAF6A66-C909-402B-8076-B49A51FAF20F}" type="presParOf" srcId="{4FEE5D43-249C-4C51-A2AC-0839272FFB1D}" destId="{777D0AB3-4DBA-418A-B8E4-47B8684FACCF}" srcOrd="1" destOrd="0" presId="urn:microsoft.com/office/officeart/2018/2/layout/IconLabelList"/>
    <dgm:cxn modelId="{D196920A-7D0A-4575-B564-1D5C82B5A460}" type="presParOf" srcId="{4FEE5D43-249C-4C51-A2AC-0839272FFB1D}" destId="{02B56D40-AD73-4E14-85B2-88C2A4AB1127}" srcOrd="2" destOrd="0" presId="urn:microsoft.com/office/officeart/2018/2/layout/IconLabelList"/>
    <dgm:cxn modelId="{20273A79-0DCC-42F3-AB98-AA481D4E0707}" type="presParOf" srcId="{05042526-D9E9-40E6-8D60-30EFB8141090}" destId="{21412BE7-8F6A-46B5-BA32-C0C5E79D96C8}" srcOrd="3" destOrd="0" presId="urn:microsoft.com/office/officeart/2018/2/layout/IconLabelList"/>
    <dgm:cxn modelId="{32AA7239-B3CF-470D-8B76-3CB03C0043C4}" type="presParOf" srcId="{05042526-D9E9-40E6-8D60-30EFB8141090}" destId="{E180750A-7C25-418B-93DE-FB5433A995F1}" srcOrd="4" destOrd="0" presId="urn:microsoft.com/office/officeart/2018/2/layout/IconLabelList"/>
    <dgm:cxn modelId="{1EEF46E7-BECB-48D9-9789-E601DA20A530}" type="presParOf" srcId="{E180750A-7C25-418B-93DE-FB5433A995F1}" destId="{9F7DD678-1630-4154-B003-A36921276C31}" srcOrd="0" destOrd="0" presId="urn:microsoft.com/office/officeart/2018/2/layout/IconLabelList"/>
    <dgm:cxn modelId="{54F5DA83-416C-44F9-833E-A3B2323CD0F4}" type="presParOf" srcId="{E180750A-7C25-418B-93DE-FB5433A995F1}" destId="{C17DCE73-CC3C-4529-855D-926318E04942}" srcOrd="1" destOrd="0" presId="urn:microsoft.com/office/officeart/2018/2/layout/IconLabelList"/>
    <dgm:cxn modelId="{5EFE56B5-CB1A-4CAB-A56B-29E04E3C0F39}" type="presParOf" srcId="{E180750A-7C25-418B-93DE-FB5433A995F1}" destId="{3A135BB8-AE08-4D60-8992-4AB63F26D5D2}" srcOrd="2" destOrd="0" presId="urn:microsoft.com/office/officeart/2018/2/layout/IconLabelList"/>
    <dgm:cxn modelId="{E6B21F63-543B-4833-ABBF-552884E680DD}" type="presParOf" srcId="{05042526-D9E9-40E6-8D60-30EFB8141090}" destId="{7320A42A-BC8D-4513-85E6-6BE12A92EDC8}" srcOrd="5" destOrd="0" presId="urn:microsoft.com/office/officeart/2018/2/layout/IconLabelList"/>
    <dgm:cxn modelId="{4748CCB1-323A-43A5-B38C-7AEF8F2CC8C8}" type="presParOf" srcId="{05042526-D9E9-40E6-8D60-30EFB8141090}" destId="{1697F42F-0802-4D29-980C-ABAD3EC2E08D}" srcOrd="6" destOrd="0" presId="urn:microsoft.com/office/officeart/2018/2/layout/IconLabelList"/>
    <dgm:cxn modelId="{6A994B66-9E8C-436B-A0C2-7BE83400DDE5}" type="presParOf" srcId="{1697F42F-0802-4D29-980C-ABAD3EC2E08D}" destId="{7B5291C9-D306-4CFD-8001-B5DF7BF05B2B}" srcOrd="0" destOrd="0" presId="urn:microsoft.com/office/officeart/2018/2/layout/IconLabelList"/>
    <dgm:cxn modelId="{AEA0B400-FB2D-49A1-87D3-88CE045BFC7B}" type="presParOf" srcId="{1697F42F-0802-4D29-980C-ABAD3EC2E08D}" destId="{0EDF1F17-7FE3-46DB-9958-70ECA77DA641}" srcOrd="1" destOrd="0" presId="urn:microsoft.com/office/officeart/2018/2/layout/IconLabelList"/>
    <dgm:cxn modelId="{4E18FCE8-BB19-4AC7-9991-90C4C7D13C05}" type="presParOf" srcId="{1697F42F-0802-4D29-980C-ABAD3EC2E08D}" destId="{13AB3200-0252-4A1D-BE3B-36A7BCEBB932}" srcOrd="2" destOrd="0" presId="urn:microsoft.com/office/officeart/2018/2/layout/IconLabelList"/>
    <dgm:cxn modelId="{A0D021E8-0D99-40F6-9D37-0089F58B0014}" type="presParOf" srcId="{05042526-D9E9-40E6-8D60-30EFB8141090}" destId="{4C1E3DD5-A583-447F-88A7-BE503E1F49C1}" srcOrd="7" destOrd="0" presId="urn:microsoft.com/office/officeart/2018/2/layout/IconLabelList"/>
    <dgm:cxn modelId="{BA4C1775-3B4F-44EE-B06E-B8F2BB64B30A}" type="presParOf" srcId="{05042526-D9E9-40E6-8D60-30EFB8141090}" destId="{A39F221B-5877-4DB8-BA8F-CFF20EA544C9}" srcOrd="8" destOrd="0" presId="urn:microsoft.com/office/officeart/2018/2/layout/IconLabelList"/>
    <dgm:cxn modelId="{A44374BB-86A0-45E6-8771-63BB572289C4}" type="presParOf" srcId="{A39F221B-5877-4DB8-BA8F-CFF20EA544C9}" destId="{35096FDE-3340-42C8-8D55-8324E83CCBB3}" srcOrd="0" destOrd="0" presId="urn:microsoft.com/office/officeart/2018/2/layout/IconLabelList"/>
    <dgm:cxn modelId="{6DC3E5A7-97F8-4FE7-BB89-344425B36D1D}" type="presParOf" srcId="{A39F221B-5877-4DB8-BA8F-CFF20EA544C9}" destId="{79E3BE3B-CC52-4763-A27F-3E8656BD1373}" srcOrd="1" destOrd="0" presId="urn:microsoft.com/office/officeart/2018/2/layout/IconLabelList"/>
    <dgm:cxn modelId="{47E8D156-8FC9-4FAA-A9E2-58E3040F95DC}" type="presParOf" srcId="{A39F221B-5877-4DB8-BA8F-CFF20EA544C9}" destId="{BC34DB3A-661B-46A3-84BE-E8FFDEC63E8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CDDE5D-235F-4584-B972-F3558CFA3B1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46980C-EB7F-403F-B7D0-EB11DD3C3284}">
      <dgm:prSet/>
      <dgm:spPr/>
      <dgm:t>
        <a:bodyPr/>
        <a:lstStyle/>
        <a:p>
          <a:r>
            <a:rPr lang="en-US" b="1" dirty="0"/>
            <a:t>1. Acne : </a:t>
          </a:r>
          <a:r>
            <a:rPr lang="en-US" dirty="0"/>
            <a:t>Clogged pores causing </a:t>
          </a:r>
          <a:r>
            <a:rPr lang="en-US" b="1" dirty="0"/>
            <a:t>pimples, blackheads, and cysts</a:t>
          </a:r>
          <a:r>
            <a:rPr lang="en-US" dirty="0"/>
            <a:t> on the face, chest, or back. </a:t>
          </a:r>
        </a:p>
        <a:p>
          <a:r>
            <a:rPr lang="en-US" dirty="0"/>
            <a:t>( Hybrid )</a:t>
          </a:r>
          <a:r>
            <a:rPr lang="en-US" b="1" dirty="0"/>
            <a:t> </a:t>
          </a:r>
          <a:endParaRPr lang="en-US" dirty="0"/>
        </a:p>
      </dgm:t>
    </dgm:pt>
    <dgm:pt modelId="{65A7EE15-D1FE-4B76-839C-C23C3C9699C7}" type="parTrans" cxnId="{A050D316-83E3-474F-A62B-CEF3EBBC5C90}">
      <dgm:prSet/>
      <dgm:spPr/>
      <dgm:t>
        <a:bodyPr/>
        <a:lstStyle/>
        <a:p>
          <a:endParaRPr lang="en-US"/>
        </a:p>
      </dgm:t>
    </dgm:pt>
    <dgm:pt modelId="{741815D3-5195-48C3-9E4C-81256F1B464A}" type="sibTrans" cxnId="{A050D316-83E3-474F-A62B-CEF3EBBC5C90}">
      <dgm:prSet/>
      <dgm:spPr/>
      <dgm:t>
        <a:bodyPr/>
        <a:lstStyle/>
        <a:p>
          <a:endParaRPr lang="en-US"/>
        </a:p>
      </dgm:t>
    </dgm:pt>
    <dgm:pt modelId="{6523613C-3470-4502-806A-AE9FCA58A053}">
      <dgm:prSet/>
      <dgm:spPr/>
      <dgm:t>
        <a:bodyPr/>
        <a:lstStyle/>
        <a:p>
          <a:r>
            <a:rPr lang="en-US" b="1" dirty="0"/>
            <a:t>2.Psoriasis :</a:t>
          </a:r>
          <a:r>
            <a:rPr lang="en-US" dirty="0"/>
            <a:t>Chronic autoimmune skin condition with </a:t>
          </a:r>
          <a:r>
            <a:rPr lang="en-US" b="1" dirty="0"/>
            <a:t>red patches and silvery scales</a:t>
          </a:r>
          <a:r>
            <a:rPr lang="en-US" dirty="0"/>
            <a:t>, sometimes with </a:t>
          </a:r>
          <a:r>
            <a:rPr lang="en-US" b="1" dirty="0"/>
            <a:t>joint pain</a:t>
          </a:r>
          <a:r>
            <a:rPr lang="en-US" dirty="0"/>
            <a:t>.</a:t>
          </a:r>
        </a:p>
        <a:p>
          <a:r>
            <a:rPr lang="ar-EG" dirty="0"/>
            <a:t> </a:t>
          </a:r>
          <a:r>
            <a:rPr lang="en-US" dirty="0"/>
            <a:t>( Hybrid )</a:t>
          </a:r>
        </a:p>
      </dgm:t>
    </dgm:pt>
    <dgm:pt modelId="{49A7238D-C697-4277-B1AD-362459550A32}" type="parTrans" cxnId="{B8347FF0-3C78-4D69-B462-FFCF718A6825}">
      <dgm:prSet/>
      <dgm:spPr/>
      <dgm:t>
        <a:bodyPr/>
        <a:lstStyle/>
        <a:p>
          <a:endParaRPr lang="en-US"/>
        </a:p>
      </dgm:t>
    </dgm:pt>
    <dgm:pt modelId="{7E8616C6-5754-44F9-9DA3-F7AB1F42D254}" type="sibTrans" cxnId="{B8347FF0-3C78-4D69-B462-FFCF718A6825}">
      <dgm:prSet/>
      <dgm:spPr/>
      <dgm:t>
        <a:bodyPr/>
        <a:lstStyle/>
        <a:p>
          <a:endParaRPr lang="en-US"/>
        </a:p>
      </dgm:t>
    </dgm:pt>
    <dgm:pt modelId="{88F4AFC7-7BDE-4325-9A55-AAFAAE144472}">
      <dgm:prSet/>
      <dgm:spPr/>
      <dgm:t>
        <a:bodyPr/>
        <a:lstStyle/>
        <a:p>
          <a:r>
            <a:rPr lang="en-US" b="1" dirty="0"/>
            <a:t>3. Eczema (Atopic Dermatitis) : </a:t>
          </a:r>
          <a:r>
            <a:rPr lang="en-US" dirty="0"/>
            <a:t>Inflamed, itchy skin with </a:t>
          </a:r>
          <a:r>
            <a:rPr lang="en-US" b="1" dirty="0"/>
            <a:t>dryness, blisters, and cracking</a:t>
          </a:r>
          <a:r>
            <a:rPr lang="en-US" dirty="0"/>
            <a:t>, often triggered by irritants or allergens. </a:t>
          </a:r>
        </a:p>
        <a:p>
          <a:r>
            <a:rPr lang="en-US" dirty="0"/>
            <a:t>( Hybrid )</a:t>
          </a:r>
        </a:p>
      </dgm:t>
    </dgm:pt>
    <dgm:pt modelId="{1AD7088D-385D-43FE-A661-E27996BE2A80}" type="parTrans" cxnId="{B1324108-910E-4F7B-B7F8-8322CDB44038}">
      <dgm:prSet/>
      <dgm:spPr/>
      <dgm:t>
        <a:bodyPr/>
        <a:lstStyle/>
        <a:p>
          <a:endParaRPr lang="en-US"/>
        </a:p>
      </dgm:t>
    </dgm:pt>
    <dgm:pt modelId="{5D091867-0A3A-4279-AD2E-B22978A7F38F}" type="sibTrans" cxnId="{B1324108-910E-4F7B-B7F8-8322CDB44038}">
      <dgm:prSet/>
      <dgm:spPr/>
      <dgm:t>
        <a:bodyPr/>
        <a:lstStyle/>
        <a:p>
          <a:endParaRPr lang="en-US"/>
        </a:p>
      </dgm:t>
    </dgm:pt>
    <dgm:pt modelId="{F46123FF-7630-42E3-B574-7A14FD7C2191}">
      <dgm:prSet/>
      <dgm:spPr/>
      <dgm:t>
        <a:bodyPr/>
        <a:lstStyle/>
        <a:p>
          <a:r>
            <a:rPr lang="en-US" b="1" dirty="0"/>
            <a:t>4. Ichthyosis : </a:t>
          </a:r>
          <a:r>
            <a:rPr lang="en-US" dirty="0"/>
            <a:t>Hereditary disorder causing </a:t>
          </a:r>
          <a:r>
            <a:rPr lang="en-US" b="1" dirty="0"/>
            <a:t>extremely dry, fish-scale-like skin</a:t>
          </a:r>
          <a:r>
            <a:rPr lang="en-US" dirty="0"/>
            <a:t>, usually starting in childhood. </a:t>
          </a:r>
        </a:p>
        <a:p>
          <a:r>
            <a:rPr lang="en-US" dirty="0"/>
            <a:t>( Questions )</a:t>
          </a:r>
          <a:r>
            <a:rPr lang="en-US" b="1" dirty="0"/>
            <a:t> </a:t>
          </a:r>
          <a:endParaRPr lang="en-US" dirty="0"/>
        </a:p>
      </dgm:t>
    </dgm:pt>
    <dgm:pt modelId="{DEBD788C-A78D-4CAA-8D27-4F25C1694AB4}" type="parTrans" cxnId="{908E1F68-EA3D-4C96-89A3-ACB071E4E226}">
      <dgm:prSet/>
      <dgm:spPr/>
      <dgm:t>
        <a:bodyPr/>
        <a:lstStyle/>
        <a:p>
          <a:endParaRPr lang="en-US"/>
        </a:p>
      </dgm:t>
    </dgm:pt>
    <dgm:pt modelId="{9F12B51F-92C3-4EC0-AFB4-E5EB2FCA8584}" type="sibTrans" cxnId="{908E1F68-EA3D-4C96-89A3-ACB071E4E226}">
      <dgm:prSet/>
      <dgm:spPr/>
      <dgm:t>
        <a:bodyPr/>
        <a:lstStyle/>
        <a:p>
          <a:endParaRPr lang="en-US"/>
        </a:p>
      </dgm:t>
    </dgm:pt>
    <dgm:pt modelId="{A6A39B33-B2E5-4839-87A7-13D1F646A8B3}">
      <dgm:prSet/>
      <dgm:spPr/>
      <dgm:t>
        <a:bodyPr/>
        <a:lstStyle/>
        <a:p>
          <a:r>
            <a:rPr lang="en-US" b="1" dirty="0"/>
            <a:t>5. Meningitis Rash : </a:t>
          </a:r>
          <a:r>
            <a:rPr lang="en-US" dirty="0"/>
            <a:t>A medical emergency with </a:t>
          </a:r>
          <a:r>
            <a:rPr lang="en-US" b="1" dirty="0"/>
            <a:t>fever, severe headache, stiff neck</a:t>
          </a:r>
          <a:r>
            <a:rPr lang="en-US" dirty="0"/>
            <a:t>, and a sudden </a:t>
          </a:r>
          <a:r>
            <a:rPr lang="en-US" b="1" dirty="0"/>
            <a:t>purpuric rash</a:t>
          </a:r>
          <a:r>
            <a:rPr lang="en-US" dirty="0"/>
            <a:t>. </a:t>
          </a:r>
        </a:p>
        <a:p>
          <a:r>
            <a:rPr lang="en-US" dirty="0"/>
            <a:t>( Questions )</a:t>
          </a:r>
        </a:p>
      </dgm:t>
    </dgm:pt>
    <dgm:pt modelId="{0478595A-343D-4689-8603-0D6019194F5F}" type="parTrans" cxnId="{48D02580-D234-45F4-A3AC-4AB4721E9461}">
      <dgm:prSet/>
      <dgm:spPr/>
      <dgm:t>
        <a:bodyPr/>
        <a:lstStyle/>
        <a:p>
          <a:endParaRPr lang="en-US"/>
        </a:p>
      </dgm:t>
    </dgm:pt>
    <dgm:pt modelId="{B6D942D7-7B00-41DF-810F-9940E2419F14}" type="sibTrans" cxnId="{48D02580-D234-45F4-A3AC-4AB4721E9461}">
      <dgm:prSet/>
      <dgm:spPr/>
      <dgm:t>
        <a:bodyPr/>
        <a:lstStyle/>
        <a:p>
          <a:endParaRPr lang="en-US"/>
        </a:p>
      </dgm:t>
    </dgm:pt>
    <dgm:pt modelId="{2D1BE78E-10A9-4658-8B63-B48079B34D47}">
      <dgm:prSet/>
      <dgm:spPr/>
      <dgm:t>
        <a:bodyPr/>
        <a:lstStyle/>
        <a:p>
          <a:r>
            <a:rPr lang="en-US" b="1" dirty="0"/>
            <a:t>6. Measles (Rubeola) : </a:t>
          </a:r>
          <a:r>
            <a:rPr lang="en-US" dirty="0"/>
            <a:t>Highly contagious viral infection causing </a:t>
          </a:r>
          <a:r>
            <a:rPr lang="en-US" b="1" dirty="0"/>
            <a:t>fever, cough, runny nose</a:t>
          </a:r>
          <a:r>
            <a:rPr lang="en-US" dirty="0"/>
            <a:t>, and a spreading </a:t>
          </a:r>
          <a:r>
            <a:rPr lang="en-US" b="1" dirty="0"/>
            <a:t>red rash</a:t>
          </a:r>
          <a:r>
            <a:rPr lang="en-US" dirty="0"/>
            <a:t> with </a:t>
          </a:r>
          <a:r>
            <a:rPr lang="en-US" b="1" dirty="0"/>
            <a:t>Koplik spots</a:t>
          </a:r>
          <a:r>
            <a:rPr lang="en-US" dirty="0"/>
            <a:t>. </a:t>
          </a:r>
        </a:p>
        <a:p>
          <a:r>
            <a:rPr lang="en-US" dirty="0"/>
            <a:t>( Questions )</a:t>
          </a:r>
        </a:p>
      </dgm:t>
    </dgm:pt>
    <dgm:pt modelId="{2AB3AE52-5606-4274-9AF3-F6B28ADCC26A}" type="parTrans" cxnId="{A3872955-8CA6-4E39-9021-776A487C69AB}">
      <dgm:prSet/>
      <dgm:spPr/>
      <dgm:t>
        <a:bodyPr/>
        <a:lstStyle/>
        <a:p>
          <a:endParaRPr lang="en-US"/>
        </a:p>
      </dgm:t>
    </dgm:pt>
    <dgm:pt modelId="{4F5814C5-A45F-44B3-9128-5A79B0E2E4C9}" type="sibTrans" cxnId="{A3872955-8CA6-4E39-9021-776A487C69AB}">
      <dgm:prSet/>
      <dgm:spPr/>
      <dgm:t>
        <a:bodyPr/>
        <a:lstStyle/>
        <a:p>
          <a:endParaRPr lang="en-US"/>
        </a:p>
      </dgm:t>
    </dgm:pt>
    <dgm:pt modelId="{7A47FB3E-9972-4A1E-8044-48FB5EE051C2}" type="pres">
      <dgm:prSet presAssocID="{70CDDE5D-235F-4584-B972-F3558CFA3B17}" presName="diagram" presStyleCnt="0">
        <dgm:presLayoutVars>
          <dgm:dir/>
          <dgm:resizeHandles val="exact"/>
        </dgm:presLayoutVars>
      </dgm:prSet>
      <dgm:spPr/>
    </dgm:pt>
    <dgm:pt modelId="{0E4C55D8-44E1-4E2B-9EAA-F8937CC6A23A}" type="pres">
      <dgm:prSet presAssocID="{7B46980C-EB7F-403F-B7D0-EB11DD3C3284}" presName="node" presStyleLbl="node1" presStyleIdx="0" presStyleCnt="6">
        <dgm:presLayoutVars>
          <dgm:bulletEnabled val="1"/>
        </dgm:presLayoutVars>
      </dgm:prSet>
      <dgm:spPr/>
    </dgm:pt>
    <dgm:pt modelId="{D920ED2C-C7B1-4E4A-B7CC-5F5535CE8E13}" type="pres">
      <dgm:prSet presAssocID="{741815D3-5195-48C3-9E4C-81256F1B464A}" presName="sibTrans" presStyleCnt="0"/>
      <dgm:spPr/>
    </dgm:pt>
    <dgm:pt modelId="{0D9E6890-F6EB-4A0A-A911-96785F51BDC7}" type="pres">
      <dgm:prSet presAssocID="{6523613C-3470-4502-806A-AE9FCA58A053}" presName="node" presStyleLbl="node1" presStyleIdx="1" presStyleCnt="6">
        <dgm:presLayoutVars>
          <dgm:bulletEnabled val="1"/>
        </dgm:presLayoutVars>
      </dgm:prSet>
      <dgm:spPr/>
    </dgm:pt>
    <dgm:pt modelId="{1FA056A5-8122-4D0D-B233-82228D0D7462}" type="pres">
      <dgm:prSet presAssocID="{7E8616C6-5754-44F9-9DA3-F7AB1F42D254}" presName="sibTrans" presStyleCnt="0"/>
      <dgm:spPr/>
    </dgm:pt>
    <dgm:pt modelId="{28E10AF0-2C55-4322-8062-1A2EB61D2549}" type="pres">
      <dgm:prSet presAssocID="{88F4AFC7-7BDE-4325-9A55-AAFAAE144472}" presName="node" presStyleLbl="node1" presStyleIdx="2" presStyleCnt="6">
        <dgm:presLayoutVars>
          <dgm:bulletEnabled val="1"/>
        </dgm:presLayoutVars>
      </dgm:prSet>
      <dgm:spPr/>
    </dgm:pt>
    <dgm:pt modelId="{4829A2CD-3328-4945-B64C-A3C04305B4F9}" type="pres">
      <dgm:prSet presAssocID="{5D091867-0A3A-4279-AD2E-B22978A7F38F}" presName="sibTrans" presStyleCnt="0"/>
      <dgm:spPr/>
    </dgm:pt>
    <dgm:pt modelId="{344C8923-D35C-45BF-BB07-43CAD9D49D19}" type="pres">
      <dgm:prSet presAssocID="{F46123FF-7630-42E3-B574-7A14FD7C2191}" presName="node" presStyleLbl="node1" presStyleIdx="3" presStyleCnt="6">
        <dgm:presLayoutVars>
          <dgm:bulletEnabled val="1"/>
        </dgm:presLayoutVars>
      </dgm:prSet>
      <dgm:spPr/>
    </dgm:pt>
    <dgm:pt modelId="{5F4238C2-E53F-47EF-9BF3-D833F6FD2BE3}" type="pres">
      <dgm:prSet presAssocID="{9F12B51F-92C3-4EC0-AFB4-E5EB2FCA8584}" presName="sibTrans" presStyleCnt="0"/>
      <dgm:spPr/>
    </dgm:pt>
    <dgm:pt modelId="{44071B83-B38D-4C48-BC96-19A821E1AFA2}" type="pres">
      <dgm:prSet presAssocID="{A6A39B33-B2E5-4839-87A7-13D1F646A8B3}" presName="node" presStyleLbl="node1" presStyleIdx="4" presStyleCnt="6">
        <dgm:presLayoutVars>
          <dgm:bulletEnabled val="1"/>
        </dgm:presLayoutVars>
      </dgm:prSet>
      <dgm:spPr/>
    </dgm:pt>
    <dgm:pt modelId="{CDA90DB7-20EC-483A-98EF-83410F47311B}" type="pres">
      <dgm:prSet presAssocID="{B6D942D7-7B00-41DF-810F-9940E2419F14}" presName="sibTrans" presStyleCnt="0"/>
      <dgm:spPr/>
    </dgm:pt>
    <dgm:pt modelId="{D8EE6433-C27C-43AE-9EC1-743FB9B3259B}" type="pres">
      <dgm:prSet presAssocID="{2D1BE78E-10A9-4658-8B63-B48079B34D47}" presName="node" presStyleLbl="node1" presStyleIdx="5" presStyleCnt="6">
        <dgm:presLayoutVars>
          <dgm:bulletEnabled val="1"/>
        </dgm:presLayoutVars>
      </dgm:prSet>
      <dgm:spPr/>
    </dgm:pt>
  </dgm:ptLst>
  <dgm:cxnLst>
    <dgm:cxn modelId="{86593207-6F24-420D-938B-5AF934EE9290}" type="presOf" srcId="{88F4AFC7-7BDE-4325-9A55-AAFAAE144472}" destId="{28E10AF0-2C55-4322-8062-1A2EB61D2549}" srcOrd="0" destOrd="0" presId="urn:microsoft.com/office/officeart/2005/8/layout/default"/>
    <dgm:cxn modelId="{B1324108-910E-4F7B-B7F8-8322CDB44038}" srcId="{70CDDE5D-235F-4584-B972-F3558CFA3B17}" destId="{88F4AFC7-7BDE-4325-9A55-AAFAAE144472}" srcOrd="2" destOrd="0" parTransId="{1AD7088D-385D-43FE-A661-E27996BE2A80}" sibTransId="{5D091867-0A3A-4279-AD2E-B22978A7F38F}"/>
    <dgm:cxn modelId="{599AB511-0B5C-477A-996A-1FF5BCA9C61E}" type="presOf" srcId="{F46123FF-7630-42E3-B574-7A14FD7C2191}" destId="{344C8923-D35C-45BF-BB07-43CAD9D49D19}" srcOrd="0" destOrd="0" presId="urn:microsoft.com/office/officeart/2005/8/layout/default"/>
    <dgm:cxn modelId="{C41CFC11-AD5B-4F6E-8B9F-880F12D7B78B}" type="presOf" srcId="{A6A39B33-B2E5-4839-87A7-13D1F646A8B3}" destId="{44071B83-B38D-4C48-BC96-19A821E1AFA2}" srcOrd="0" destOrd="0" presId="urn:microsoft.com/office/officeart/2005/8/layout/default"/>
    <dgm:cxn modelId="{A050D316-83E3-474F-A62B-CEF3EBBC5C90}" srcId="{70CDDE5D-235F-4584-B972-F3558CFA3B17}" destId="{7B46980C-EB7F-403F-B7D0-EB11DD3C3284}" srcOrd="0" destOrd="0" parTransId="{65A7EE15-D1FE-4B76-839C-C23C3C9699C7}" sibTransId="{741815D3-5195-48C3-9E4C-81256F1B464A}"/>
    <dgm:cxn modelId="{908E1F68-EA3D-4C96-89A3-ACB071E4E226}" srcId="{70CDDE5D-235F-4584-B972-F3558CFA3B17}" destId="{F46123FF-7630-42E3-B574-7A14FD7C2191}" srcOrd="3" destOrd="0" parTransId="{DEBD788C-A78D-4CAA-8D27-4F25C1694AB4}" sibTransId="{9F12B51F-92C3-4EC0-AFB4-E5EB2FCA8584}"/>
    <dgm:cxn modelId="{384DD954-F3EF-49A2-9E84-613D04D4E8DF}" type="presOf" srcId="{7B46980C-EB7F-403F-B7D0-EB11DD3C3284}" destId="{0E4C55D8-44E1-4E2B-9EAA-F8937CC6A23A}" srcOrd="0" destOrd="0" presId="urn:microsoft.com/office/officeart/2005/8/layout/default"/>
    <dgm:cxn modelId="{A3872955-8CA6-4E39-9021-776A487C69AB}" srcId="{70CDDE5D-235F-4584-B972-F3558CFA3B17}" destId="{2D1BE78E-10A9-4658-8B63-B48079B34D47}" srcOrd="5" destOrd="0" parTransId="{2AB3AE52-5606-4274-9AF3-F6B28ADCC26A}" sibTransId="{4F5814C5-A45F-44B3-9128-5A79B0E2E4C9}"/>
    <dgm:cxn modelId="{48D02580-D234-45F4-A3AC-4AB4721E9461}" srcId="{70CDDE5D-235F-4584-B972-F3558CFA3B17}" destId="{A6A39B33-B2E5-4839-87A7-13D1F646A8B3}" srcOrd="4" destOrd="0" parTransId="{0478595A-343D-4689-8603-0D6019194F5F}" sibTransId="{B6D942D7-7B00-41DF-810F-9940E2419F14}"/>
    <dgm:cxn modelId="{BA076BB8-CCAB-4238-8F39-EEFD4D3F3A92}" type="presOf" srcId="{70CDDE5D-235F-4584-B972-F3558CFA3B17}" destId="{7A47FB3E-9972-4A1E-8044-48FB5EE051C2}" srcOrd="0" destOrd="0" presId="urn:microsoft.com/office/officeart/2005/8/layout/default"/>
    <dgm:cxn modelId="{A47133E9-6D12-407E-B810-E8972401F341}" type="presOf" srcId="{6523613C-3470-4502-806A-AE9FCA58A053}" destId="{0D9E6890-F6EB-4A0A-A911-96785F51BDC7}" srcOrd="0" destOrd="0" presId="urn:microsoft.com/office/officeart/2005/8/layout/default"/>
    <dgm:cxn modelId="{BF5F1FF0-F9A2-4E0B-B641-7187FA28B526}" type="presOf" srcId="{2D1BE78E-10A9-4658-8B63-B48079B34D47}" destId="{D8EE6433-C27C-43AE-9EC1-743FB9B3259B}" srcOrd="0" destOrd="0" presId="urn:microsoft.com/office/officeart/2005/8/layout/default"/>
    <dgm:cxn modelId="{B8347FF0-3C78-4D69-B462-FFCF718A6825}" srcId="{70CDDE5D-235F-4584-B972-F3558CFA3B17}" destId="{6523613C-3470-4502-806A-AE9FCA58A053}" srcOrd="1" destOrd="0" parTransId="{49A7238D-C697-4277-B1AD-362459550A32}" sibTransId="{7E8616C6-5754-44F9-9DA3-F7AB1F42D254}"/>
    <dgm:cxn modelId="{B74455DA-0AB4-4425-8A7F-45903204475F}" type="presParOf" srcId="{7A47FB3E-9972-4A1E-8044-48FB5EE051C2}" destId="{0E4C55D8-44E1-4E2B-9EAA-F8937CC6A23A}" srcOrd="0" destOrd="0" presId="urn:microsoft.com/office/officeart/2005/8/layout/default"/>
    <dgm:cxn modelId="{BFEDC14B-E2F7-4BF1-89E9-6E69E6B54B98}" type="presParOf" srcId="{7A47FB3E-9972-4A1E-8044-48FB5EE051C2}" destId="{D920ED2C-C7B1-4E4A-B7CC-5F5535CE8E13}" srcOrd="1" destOrd="0" presId="urn:microsoft.com/office/officeart/2005/8/layout/default"/>
    <dgm:cxn modelId="{91B3FDA4-AC29-4223-9EC3-D6276EB1D097}" type="presParOf" srcId="{7A47FB3E-9972-4A1E-8044-48FB5EE051C2}" destId="{0D9E6890-F6EB-4A0A-A911-96785F51BDC7}" srcOrd="2" destOrd="0" presId="urn:microsoft.com/office/officeart/2005/8/layout/default"/>
    <dgm:cxn modelId="{307B56AF-8488-4D97-BDF4-C553F99BF7FF}" type="presParOf" srcId="{7A47FB3E-9972-4A1E-8044-48FB5EE051C2}" destId="{1FA056A5-8122-4D0D-B233-82228D0D7462}" srcOrd="3" destOrd="0" presId="urn:microsoft.com/office/officeart/2005/8/layout/default"/>
    <dgm:cxn modelId="{40E9210A-2A45-4008-95B8-7A2F3D47A33E}" type="presParOf" srcId="{7A47FB3E-9972-4A1E-8044-48FB5EE051C2}" destId="{28E10AF0-2C55-4322-8062-1A2EB61D2549}" srcOrd="4" destOrd="0" presId="urn:microsoft.com/office/officeart/2005/8/layout/default"/>
    <dgm:cxn modelId="{833CF390-2D6B-4177-A47B-6B6BBA209701}" type="presParOf" srcId="{7A47FB3E-9972-4A1E-8044-48FB5EE051C2}" destId="{4829A2CD-3328-4945-B64C-A3C04305B4F9}" srcOrd="5" destOrd="0" presId="urn:microsoft.com/office/officeart/2005/8/layout/default"/>
    <dgm:cxn modelId="{83B019E4-9D0F-4B21-8F88-0B5FED7A2F03}" type="presParOf" srcId="{7A47FB3E-9972-4A1E-8044-48FB5EE051C2}" destId="{344C8923-D35C-45BF-BB07-43CAD9D49D19}" srcOrd="6" destOrd="0" presId="urn:microsoft.com/office/officeart/2005/8/layout/default"/>
    <dgm:cxn modelId="{BEA30A81-51F7-4FA8-9157-994A7B9A3557}" type="presParOf" srcId="{7A47FB3E-9972-4A1E-8044-48FB5EE051C2}" destId="{5F4238C2-E53F-47EF-9BF3-D833F6FD2BE3}" srcOrd="7" destOrd="0" presId="urn:microsoft.com/office/officeart/2005/8/layout/default"/>
    <dgm:cxn modelId="{641249B5-B1F2-4D6F-889E-FB5FCEC0A293}" type="presParOf" srcId="{7A47FB3E-9972-4A1E-8044-48FB5EE051C2}" destId="{44071B83-B38D-4C48-BC96-19A821E1AFA2}" srcOrd="8" destOrd="0" presId="urn:microsoft.com/office/officeart/2005/8/layout/default"/>
    <dgm:cxn modelId="{D7D28466-B666-4054-88B1-E59138CC17E2}" type="presParOf" srcId="{7A47FB3E-9972-4A1E-8044-48FB5EE051C2}" destId="{CDA90DB7-20EC-483A-98EF-83410F47311B}" srcOrd="9" destOrd="0" presId="urn:microsoft.com/office/officeart/2005/8/layout/default"/>
    <dgm:cxn modelId="{EB8E0D95-AE90-4C02-A75D-D7B5E85DD725}" type="presParOf" srcId="{7A47FB3E-9972-4A1E-8044-48FB5EE051C2}" destId="{D8EE6433-C27C-43AE-9EC1-743FB9B3259B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CDDE5D-235F-4584-B972-F3558CFA3B1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B46980C-EB7F-403F-B7D0-EB11DD3C3284}">
      <dgm:prSet/>
      <dgm:spPr/>
      <dgm:t>
        <a:bodyPr/>
        <a:lstStyle/>
        <a:p>
          <a:pPr>
            <a:buNone/>
          </a:pPr>
          <a:r>
            <a:rPr lang="en-US" b="1" dirty="0"/>
            <a:t>7. Scarlet Fever : </a:t>
          </a:r>
          <a:r>
            <a:rPr lang="en-US" dirty="0"/>
            <a:t>Bacterial infection causing </a:t>
          </a:r>
          <a:r>
            <a:rPr lang="en-US" b="1" dirty="0"/>
            <a:t>fever, sore throat, strawberry tongue</a:t>
          </a:r>
          <a:r>
            <a:rPr lang="en-US" dirty="0"/>
            <a:t>, and a </a:t>
          </a:r>
          <a:r>
            <a:rPr lang="en-US" b="1" dirty="0"/>
            <a:t>sandpaper-like rash</a:t>
          </a:r>
          <a:r>
            <a:rPr lang="en-US" dirty="0"/>
            <a:t>.</a:t>
          </a:r>
        </a:p>
        <a:p>
          <a:pPr>
            <a:buNone/>
          </a:pPr>
          <a:r>
            <a:rPr lang="en-US" dirty="0"/>
            <a:t> ( Questions )</a:t>
          </a:r>
        </a:p>
      </dgm:t>
    </dgm:pt>
    <dgm:pt modelId="{65A7EE15-D1FE-4B76-839C-C23C3C9699C7}" type="parTrans" cxnId="{A050D316-83E3-474F-A62B-CEF3EBBC5C90}">
      <dgm:prSet/>
      <dgm:spPr/>
      <dgm:t>
        <a:bodyPr/>
        <a:lstStyle/>
        <a:p>
          <a:endParaRPr lang="en-US"/>
        </a:p>
      </dgm:t>
    </dgm:pt>
    <dgm:pt modelId="{741815D3-5195-48C3-9E4C-81256F1B464A}" type="sibTrans" cxnId="{A050D316-83E3-474F-A62B-CEF3EBBC5C90}">
      <dgm:prSet/>
      <dgm:spPr/>
      <dgm:t>
        <a:bodyPr/>
        <a:lstStyle/>
        <a:p>
          <a:endParaRPr lang="en-US"/>
        </a:p>
      </dgm:t>
    </dgm:pt>
    <dgm:pt modelId="{6523613C-3470-4502-806A-AE9FCA58A053}">
      <dgm:prSet/>
      <dgm:spPr/>
      <dgm:t>
        <a:bodyPr/>
        <a:lstStyle/>
        <a:p>
          <a:r>
            <a:rPr lang="en-US" b="1" dirty="0"/>
            <a:t>8. Insect Bites &amp; Stings : </a:t>
          </a:r>
          <a:r>
            <a:rPr lang="en-US" dirty="0"/>
            <a:t>Localized reaction after an insect bite with </a:t>
          </a:r>
          <a:r>
            <a:rPr lang="en-US" b="1" dirty="0"/>
            <a:t>redness, swelling, itching</a:t>
          </a:r>
          <a:r>
            <a:rPr lang="en-US" dirty="0"/>
            <a:t>, or pain. </a:t>
          </a:r>
        </a:p>
        <a:p>
          <a:r>
            <a:rPr lang="en-US" dirty="0"/>
            <a:t>( Questions )</a:t>
          </a:r>
        </a:p>
      </dgm:t>
    </dgm:pt>
    <dgm:pt modelId="{49A7238D-C697-4277-B1AD-362459550A32}" type="parTrans" cxnId="{B8347FF0-3C78-4D69-B462-FFCF718A6825}">
      <dgm:prSet/>
      <dgm:spPr/>
      <dgm:t>
        <a:bodyPr/>
        <a:lstStyle/>
        <a:p>
          <a:endParaRPr lang="en-US"/>
        </a:p>
      </dgm:t>
    </dgm:pt>
    <dgm:pt modelId="{7E8616C6-5754-44F9-9DA3-F7AB1F42D254}" type="sibTrans" cxnId="{B8347FF0-3C78-4D69-B462-FFCF718A6825}">
      <dgm:prSet/>
      <dgm:spPr/>
      <dgm:t>
        <a:bodyPr/>
        <a:lstStyle/>
        <a:p>
          <a:endParaRPr lang="en-US"/>
        </a:p>
      </dgm:t>
    </dgm:pt>
    <dgm:pt modelId="{88F4AFC7-7BDE-4325-9A55-AAFAAE144472}">
      <dgm:prSet/>
      <dgm:spPr/>
      <dgm:t>
        <a:bodyPr/>
        <a:lstStyle/>
        <a:p>
          <a:r>
            <a:rPr lang="en-US" b="1" dirty="0"/>
            <a:t>9. Warts (HPV) : </a:t>
          </a:r>
          <a:r>
            <a:rPr lang="en-US" dirty="0"/>
            <a:t>Rough skin growths caused by </a:t>
          </a:r>
          <a:r>
            <a:rPr lang="en-US" b="1" dirty="0"/>
            <a:t>human papillomavirus</a:t>
          </a:r>
          <a:r>
            <a:rPr lang="en-US" dirty="0"/>
            <a:t>, often containing </a:t>
          </a:r>
          <a:r>
            <a:rPr lang="en-US" b="1" dirty="0"/>
            <a:t>small black dots</a:t>
          </a:r>
          <a:r>
            <a:rPr lang="en-US" dirty="0"/>
            <a:t>. ( Hybrid )</a:t>
          </a:r>
        </a:p>
      </dgm:t>
    </dgm:pt>
    <dgm:pt modelId="{1AD7088D-385D-43FE-A661-E27996BE2A80}" type="parTrans" cxnId="{B1324108-910E-4F7B-B7F8-8322CDB44038}">
      <dgm:prSet/>
      <dgm:spPr/>
      <dgm:t>
        <a:bodyPr/>
        <a:lstStyle/>
        <a:p>
          <a:endParaRPr lang="en-US"/>
        </a:p>
      </dgm:t>
    </dgm:pt>
    <dgm:pt modelId="{5D091867-0A3A-4279-AD2E-B22978A7F38F}" type="sibTrans" cxnId="{B1324108-910E-4F7B-B7F8-8322CDB44038}">
      <dgm:prSet/>
      <dgm:spPr/>
      <dgm:t>
        <a:bodyPr/>
        <a:lstStyle/>
        <a:p>
          <a:endParaRPr lang="en-US"/>
        </a:p>
      </dgm:t>
    </dgm:pt>
    <dgm:pt modelId="{F46123FF-7630-42E3-B574-7A14FD7C2191}">
      <dgm:prSet/>
      <dgm:spPr/>
      <dgm:t>
        <a:bodyPr/>
        <a:lstStyle/>
        <a:p>
          <a:r>
            <a:rPr lang="en-US" b="1" dirty="0"/>
            <a:t>10. Fungal Infections (Tinea / Ringworm) : </a:t>
          </a:r>
          <a:r>
            <a:rPr lang="en-US" dirty="0"/>
            <a:t>A contagious fungal infection causing </a:t>
          </a:r>
          <a:r>
            <a:rPr lang="en-US" b="1" dirty="0"/>
            <a:t>red, itchy, circular scaly patches</a:t>
          </a:r>
          <a:r>
            <a:rPr lang="en-US" dirty="0"/>
            <a:t> on skin, hair, or nails. </a:t>
          </a:r>
        </a:p>
        <a:p>
          <a:r>
            <a:rPr lang="en-US" dirty="0"/>
            <a:t>( AI )</a:t>
          </a:r>
        </a:p>
      </dgm:t>
    </dgm:pt>
    <dgm:pt modelId="{DEBD788C-A78D-4CAA-8D27-4F25C1694AB4}" type="parTrans" cxnId="{908E1F68-EA3D-4C96-89A3-ACB071E4E226}">
      <dgm:prSet/>
      <dgm:spPr/>
      <dgm:t>
        <a:bodyPr/>
        <a:lstStyle/>
        <a:p>
          <a:endParaRPr lang="en-US"/>
        </a:p>
      </dgm:t>
    </dgm:pt>
    <dgm:pt modelId="{9F12B51F-92C3-4EC0-AFB4-E5EB2FCA8584}" type="sibTrans" cxnId="{908E1F68-EA3D-4C96-89A3-ACB071E4E226}">
      <dgm:prSet/>
      <dgm:spPr/>
      <dgm:t>
        <a:bodyPr/>
        <a:lstStyle/>
        <a:p>
          <a:endParaRPr lang="en-US"/>
        </a:p>
      </dgm:t>
    </dgm:pt>
    <dgm:pt modelId="{A6A39B33-B2E5-4839-87A7-13D1F646A8B3}">
      <dgm:prSet/>
      <dgm:spPr/>
      <dgm:t>
        <a:bodyPr/>
        <a:lstStyle/>
        <a:p>
          <a:r>
            <a:rPr lang="en-US" b="1" dirty="0"/>
            <a:t>11. Melanoma : </a:t>
          </a:r>
          <a:r>
            <a:rPr lang="en-US" dirty="0"/>
            <a:t>The most dangerous type of skin cancer — </a:t>
          </a:r>
          <a:r>
            <a:rPr lang="en-US" b="1" dirty="0"/>
            <a:t>rapidly spreading pigment-cell tumor</a:t>
          </a:r>
          <a:r>
            <a:rPr lang="en-US" dirty="0"/>
            <a:t> that needs early detection. </a:t>
          </a:r>
        </a:p>
        <a:p>
          <a:r>
            <a:rPr lang="en-US" dirty="0"/>
            <a:t>( AI )</a:t>
          </a:r>
        </a:p>
      </dgm:t>
    </dgm:pt>
    <dgm:pt modelId="{0478595A-343D-4689-8603-0D6019194F5F}" type="parTrans" cxnId="{48D02580-D234-45F4-A3AC-4AB4721E9461}">
      <dgm:prSet/>
      <dgm:spPr/>
      <dgm:t>
        <a:bodyPr/>
        <a:lstStyle/>
        <a:p>
          <a:endParaRPr lang="en-US"/>
        </a:p>
      </dgm:t>
    </dgm:pt>
    <dgm:pt modelId="{B6D942D7-7B00-41DF-810F-9940E2419F14}" type="sibTrans" cxnId="{48D02580-D234-45F4-A3AC-4AB4721E9461}">
      <dgm:prSet/>
      <dgm:spPr/>
      <dgm:t>
        <a:bodyPr/>
        <a:lstStyle/>
        <a:p>
          <a:endParaRPr lang="en-US"/>
        </a:p>
      </dgm:t>
    </dgm:pt>
    <dgm:pt modelId="{7A47FB3E-9972-4A1E-8044-48FB5EE051C2}" type="pres">
      <dgm:prSet presAssocID="{70CDDE5D-235F-4584-B972-F3558CFA3B17}" presName="diagram" presStyleCnt="0">
        <dgm:presLayoutVars>
          <dgm:dir/>
          <dgm:resizeHandles val="exact"/>
        </dgm:presLayoutVars>
      </dgm:prSet>
      <dgm:spPr/>
    </dgm:pt>
    <dgm:pt modelId="{0E4C55D8-44E1-4E2B-9EAA-F8937CC6A23A}" type="pres">
      <dgm:prSet presAssocID="{7B46980C-EB7F-403F-B7D0-EB11DD3C3284}" presName="node" presStyleLbl="node1" presStyleIdx="0" presStyleCnt="5">
        <dgm:presLayoutVars>
          <dgm:bulletEnabled val="1"/>
        </dgm:presLayoutVars>
      </dgm:prSet>
      <dgm:spPr/>
    </dgm:pt>
    <dgm:pt modelId="{D920ED2C-C7B1-4E4A-B7CC-5F5535CE8E13}" type="pres">
      <dgm:prSet presAssocID="{741815D3-5195-48C3-9E4C-81256F1B464A}" presName="sibTrans" presStyleCnt="0"/>
      <dgm:spPr/>
    </dgm:pt>
    <dgm:pt modelId="{0D9E6890-F6EB-4A0A-A911-96785F51BDC7}" type="pres">
      <dgm:prSet presAssocID="{6523613C-3470-4502-806A-AE9FCA58A053}" presName="node" presStyleLbl="node1" presStyleIdx="1" presStyleCnt="5">
        <dgm:presLayoutVars>
          <dgm:bulletEnabled val="1"/>
        </dgm:presLayoutVars>
      </dgm:prSet>
      <dgm:spPr/>
    </dgm:pt>
    <dgm:pt modelId="{1FA056A5-8122-4D0D-B233-82228D0D7462}" type="pres">
      <dgm:prSet presAssocID="{7E8616C6-5754-44F9-9DA3-F7AB1F42D254}" presName="sibTrans" presStyleCnt="0"/>
      <dgm:spPr/>
    </dgm:pt>
    <dgm:pt modelId="{28E10AF0-2C55-4322-8062-1A2EB61D2549}" type="pres">
      <dgm:prSet presAssocID="{88F4AFC7-7BDE-4325-9A55-AAFAAE144472}" presName="node" presStyleLbl="node1" presStyleIdx="2" presStyleCnt="5">
        <dgm:presLayoutVars>
          <dgm:bulletEnabled val="1"/>
        </dgm:presLayoutVars>
      </dgm:prSet>
      <dgm:spPr/>
    </dgm:pt>
    <dgm:pt modelId="{4829A2CD-3328-4945-B64C-A3C04305B4F9}" type="pres">
      <dgm:prSet presAssocID="{5D091867-0A3A-4279-AD2E-B22978A7F38F}" presName="sibTrans" presStyleCnt="0"/>
      <dgm:spPr/>
    </dgm:pt>
    <dgm:pt modelId="{344C8923-D35C-45BF-BB07-43CAD9D49D19}" type="pres">
      <dgm:prSet presAssocID="{F46123FF-7630-42E3-B574-7A14FD7C2191}" presName="node" presStyleLbl="node1" presStyleIdx="3" presStyleCnt="5">
        <dgm:presLayoutVars>
          <dgm:bulletEnabled val="1"/>
        </dgm:presLayoutVars>
      </dgm:prSet>
      <dgm:spPr/>
    </dgm:pt>
    <dgm:pt modelId="{5F4238C2-E53F-47EF-9BF3-D833F6FD2BE3}" type="pres">
      <dgm:prSet presAssocID="{9F12B51F-92C3-4EC0-AFB4-E5EB2FCA8584}" presName="sibTrans" presStyleCnt="0"/>
      <dgm:spPr/>
    </dgm:pt>
    <dgm:pt modelId="{44071B83-B38D-4C48-BC96-19A821E1AFA2}" type="pres">
      <dgm:prSet presAssocID="{A6A39B33-B2E5-4839-87A7-13D1F646A8B3}" presName="node" presStyleLbl="node1" presStyleIdx="4" presStyleCnt="5">
        <dgm:presLayoutVars>
          <dgm:bulletEnabled val="1"/>
        </dgm:presLayoutVars>
      </dgm:prSet>
      <dgm:spPr/>
    </dgm:pt>
  </dgm:ptLst>
  <dgm:cxnLst>
    <dgm:cxn modelId="{86593207-6F24-420D-938B-5AF934EE9290}" type="presOf" srcId="{88F4AFC7-7BDE-4325-9A55-AAFAAE144472}" destId="{28E10AF0-2C55-4322-8062-1A2EB61D2549}" srcOrd="0" destOrd="0" presId="urn:microsoft.com/office/officeart/2005/8/layout/default"/>
    <dgm:cxn modelId="{B1324108-910E-4F7B-B7F8-8322CDB44038}" srcId="{70CDDE5D-235F-4584-B972-F3558CFA3B17}" destId="{88F4AFC7-7BDE-4325-9A55-AAFAAE144472}" srcOrd="2" destOrd="0" parTransId="{1AD7088D-385D-43FE-A661-E27996BE2A80}" sibTransId="{5D091867-0A3A-4279-AD2E-B22978A7F38F}"/>
    <dgm:cxn modelId="{599AB511-0B5C-477A-996A-1FF5BCA9C61E}" type="presOf" srcId="{F46123FF-7630-42E3-B574-7A14FD7C2191}" destId="{344C8923-D35C-45BF-BB07-43CAD9D49D19}" srcOrd="0" destOrd="0" presId="urn:microsoft.com/office/officeart/2005/8/layout/default"/>
    <dgm:cxn modelId="{C41CFC11-AD5B-4F6E-8B9F-880F12D7B78B}" type="presOf" srcId="{A6A39B33-B2E5-4839-87A7-13D1F646A8B3}" destId="{44071B83-B38D-4C48-BC96-19A821E1AFA2}" srcOrd="0" destOrd="0" presId="urn:microsoft.com/office/officeart/2005/8/layout/default"/>
    <dgm:cxn modelId="{A050D316-83E3-474F-A62B-CEF3EBBC5C90}" srcId="{70CDDE5D-235F-4584-B972-F3558CFA3B17}" destId="{7B46980C-EB7F-403F-B7D0-EB11DD3C3284}" srcOrd="0" destOrd="0" parTransId="{65A7EE15-D1FE-4B76-839C-C23C3C9699C7}" sibTransId="{741815D3-5195-48C3-9E4C-81256F1B464A}"/>
    <dgm:cxn modelId="{908E1F68-EA3D-4C96-89A3-ACB071E4E226}" srcId="{70CDDE5D-235F-4584-B972-F3558CFA3B17}" destId="{F46123FF-7630-42E3-B574-7A14FD7C2191}" srcOrd="3" destOrd="0" parTransId="{DEBD788C-A78D-4CAA-8D27-4F25C1694AB4}" sibTransId="{9F12B51F-92C3-4EC0-AFB4-E5EB2FCA8584}"/>
    <dgm:cxn modelId="{384DD954-F3EF-49A2-9E84-613D04D4E8DF}" type="presOf" srcId="{7B46980C-EB7F-403F-B7D0-EB11DD3C3284}" destId="{0E4C55D8-44E1-4E2B-9EAA-F8937CC6A23A}" srcOrd="0" destOrd="0" presId="urn:microsoft.com/office/officeart/2005/8/layout/default"/>
    <dgm:cxn modelId="{48D02580-D234-45F4-A3AC-4AB4721E9461}" srcId="{70CDDE5D-235F-4584-B972-F3558CFA3B17}" destId="{A6A39B33-B2E5-4839-87A7-13D1F646A8B3}" srcOrd="4" destOrd="0" parTransId="{0478595A-343D-4689-8603-0D6019194F5F}" sibTransId="{B6D942D7-7B00-41DF-810F-9940E2419F14}"/>
    <dgm:cxn modelId="{BA076BB8-CCAB-4238-8F39-EEFD4D3F3A92}" type="presOf" srcId="{70CDDE5D-235F-4584-B972-F3558CFA3B17}" destId="{7A47FB3E-9972-4A1E-8044-48FB5EE051C2}" srcOrd="0" destOrd="0" presId="urn:microsoft.com/office/officeart/2005/8/layout/default"/>
    <dgm:cxn modelId="{A47133E9-6D12-407E-B810-E8972401F341}" type="presOf" srcId="{6523613C-3470-4502-806A-AE9FCA58A053}" destId="{0D9E6890-F6EB-4A0A-A911-96785F51BDC7}" srcOrd="0" destOrd="0" presId="urn:microsoft.com/office/officeart/2005/8/layout/default"/>
    <dgm:cxn modelId="{B8347FF0-3C78-4D69-B462-FFCF718A6825}" srcId="{70CDDE5D-235F-4584-B972-F3558CFA3B17}" destId="{6523613C-3470-4502-806A-AE9FCA58A053}" srcOrd="1" destOrd="0" parTransId="{49A7238D-C697-4277-B1AD-362459550A32}" sibTransId="{7E8616C6-5754-44F9-9DA3-F7AB1F42D254}"/>
    <dgm:cxn modelId="{B74455DA-0AB4-4425-8A7F-45903204475F}" type="presParOf" srcId="{7A47FB3E-9972-4A1E-8044-48FB5EE051C2}" destId="{0E4C55D8-44E1-4E2B-9EAA-F8937CC6A23A}" srcOrd="0" destOrd="0" presId="urn:microsoft.com/office/officeart/2005/8/layout/default"/>
    <dgm:cxn modelId="{BFEDC14B-E2F7-4BF1-89E9-6E69E6B54B98}" type="presParOf" srcId="{7A47FB3E-9972-4A1E-8044-48FB5EE051C2}" destId="{D920ED2C-C7B1-4E4A-B7CC-5F5535CE8E13}" srcOrd="1" destOrd="0" presId="urn:microsoft.com/office/officeart/2005/8/layout/default"/>
    <dgm:cxn modelId="{91B3FDA4-AC29-4223-9EC3-D6276EB1D097}" type="presParOf" srcId="{7A47FB3E-9972-4A1E-8044-48FB5EE051C2}" destId="{0D9E6890-F6EB-4A0A-A911-96785F51BDC7}" srcOrd="2" destOrd="0" presId="urn:microsoft.com/office/officeart/2005/8/layout/default"/>
    <dgm:cxn modelId="{307B56AF-8488-4D97-BDF4-C553F99BF7FF}" type="presParOf" srcId="{7A47FB3E-9972-4A1E-8044-48FB5EE051C2}" destId="{1FA056A5-8122-4D0D-B233-82228D0D7462}" srcOrd="3" destOrd="0" presId="urn:microsoft.com/office/officeart/2005/8/layout/default"/>
    <dgm:cxn modelId="{40E9210A-2A45-4008-95B8-7A2F3D47A33E}" type="presParOf" srcId="{7A47FB3E-9972-4A1E-8044-48FB5EE051C2}" destId="{28E10AF0-2C55-4322-8062-1A2EB61D2549}" srcOrd="4" destOrd="0" presId="urn:microsoft.com/office/officeart/2005/8/layout/default"/>
    <dgm:cxn modelId="{833CF390-2D6B-4177-A47B-6B6BBA209701}" type="presParOf" srcId="{7A47FB3E-9972-4A1E-8044-48FB5EE051C2}" destId="{4829A2CD-3328-4945-B64C-A3C04305B4F9}" srcOrd="5" destOrd="0" presId="urn:microsoft.com/office/officeart/2005/8/layout/default"/>
    <dgm:cxn modelId="{83B019E4-9D0F-4B21-8F88-0B5FED7A2F03}" type="presParOf" srcId="{7A47FB3E-9972-4A1E-8044-48FB5EE051C2}" destId="{344C8923-D35C-45BF-BB07-43CAD9D49D19}" srcOrd="6" destOrd="0" presId="urn:microsoft.com/office/officeart/2005/8/layout/default"/>
    <dgm:cxn modelId="{BEA30A81-51F7-4FA8-9157-994A7B9A3557}" type="presParOf" srcId="{7A47FB3E-9972-4A1E-8044-48FB5EE051C2}" destId="{5F4238C2-E53F-47EF-9BF3-D833F6FD2BE3}" srcOrd="7" destOrd="0" presId="urn:microsoft.com/office/officeart/2005/8/layout/default"/>
    <dgm:cxn modelId="{641249B5-B1F2-4D6F-889E-FB5FCEC0A293}" type="presParOf" srcId="{7A47FB3E-9972-4A1E-8044-48FB5EE051C2}" destId="{44071B83-B38D-4C48-BC96-19A821E1AFA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422E12-59EF-486E-B1B9-B7FA2D06AB5E}">
      <dsp:nvSpPr>
        <dsp:cNvPr id="0" name=""/>
        <dsp:cNvSpPr/>
      </dsp:nvSpPr>
      <dsp:spPr>
        <a:xfrm>
          <a:off x="828914" y="1075238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ABD852-C5BF-49B4-AA83-BB8809DA89E3}">
      <dsp:nvSpPr>
        <dsp:cNvPr id="0" name=""/>
        <dsp:cNvSpPr/>
      </dsp:nvSpPr>
      <dsp:spPr>
        <a:xfrm>
          <a:off x="333914" y="2191638"/>
          <a:ext cx="1800000" cy="925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Mobile AI screening: Build a user-friendly app that analyzes photos of skin lesions and identifies the condition. </a:t>
          </a:r>
        </a:p>
      </dsp:txBody>
      <dsp:txXfrm>
        <a:off x="333914" y="2191638"/>
        <a:ext cx="1800000" cy="925927"/>
      </dsp:txXfrm>
    </dsp:sp>
    <dsp:sp modelId="{413E30F0-B21D-4893-BEC9-52DC796F1C04}">
      <dsp:nvSpPr>
        <dsp:cNvPr id="0" name=""/>
        <dsp:cNvSpPr/>
      </dsp:nvSpPr>
      <dsp:spPr>
        <a:xfrm>
          <a:off x="2943914" y="1075238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B56D40-AD73-4E14-85B2-88C2A4AB1127}">
      <dsp:nvSpPr>
        <dsp:cNvPr id="0" name=""/>
        <dsp:cNvSpPr/>
      </dsp:nvSpPr>
      <dsp:spPr>
        <a:xfrm>
          <a:off x="2448914" y="2191638"/>
          <a:ext cx="1800000" cy="925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Accurate classification: Employ machine learning  to predict the skin disease, providing a confidence score for each result. </a:t>
          </a:r>
        </a:p>
      </dsp:txBody>
      <dsp:txXfrm>
        <a:off x="2448914" y="2191638"/>
        <a:ext cx="1800000" cy="925927"/>
      </dsp:txXfrm>
    </dsp:sp>
    <dsp:sp modelId="{9F7DD678-1630-4154-B003-A36921276C31}">
      <dsp:nvSpPr>
        <dsp:cNvPr id="0" name=""/>
        <dsp:cNvSpPr/>
      </dsp:nvSpPr>
      <dsp:spPr>
        <a:xfrm>
          <a:off x="5058914" y="1075238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135BB8-AE08-4D60-8992-4AB63F26D5D2}">
      <dsp:nvSpPr>
        <dsp:cNvPr id="0" name=""/>
        <dsp:cNvSpPr/>
      </dsp:nvSpPr>
      <dsp:spPr>
        <a:xfrm>
          <a:off x="4563914" y="2191638"/>
          <a:ext cx="1800000" cy="925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User guidance: Deliver clear explanations and self-care tips for the detected condition, and advise when to seek medical attention. </a:t>
          </a:r>
        </a:p>
      </dsp:txBody>
      <dsp:txXfrm>
        <a:off x="4563914" y="2191638"/>
        <a:ext cx="1800000" cy="925927"/>
      </dsp:txXfrm>
    </dsp:sp>
    <dsp:sp modelId="{7B5291C9-D306-4CFD-8001-B5DF7BF05B2B}">
      <dsp:nvSpPr>
        <dsp:cNvPr id="0" name=""/>
        <dsp:cNvSpPr/>
      </dsp:nvSpPr>
      <dsp:spPr>
        <a:xfrm>
          <a:off x="7173914" y="1075238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AB3200-0252-4A1D-BE3B-36A7BCEBB932}">
      <dsp:nvSpPr>
        <dsp:cNvPr id="0" name=""/>
        <dsp:cNvSpPr/>
      </dsp:nvSpPr>
      <dsp:spPr>
        <a:xfrm>
          <a:off x="6678914" y="2191638"/>
          <a:ext cx="1800000" cy="925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Early detection: Empower users to catch serious issues early (e.g. spotting melanoma sooner, which greatly improves survival ). </a:t>
          </a:r>
        </a:p>
      </dsp:txBody>
      <dsp:txXfrm>
        <a:off x="6678914" y="2191638"/>
        <a:ext cx="1800000" cy="925927"/>
      </dsp:txXfrm>
    </dsp:sp>
    <dsp:sp modelId="{35096FDE-3340-42C8-8D55-8324E83CCBB3}">
      <dsp:nvSpPr>
        <dsp:cNvPr id="0" name=""/>
        <dsp:cNvSpPr/>
      </dsp:nvSpPr>
      <dsp:spPr>
        <a:xfrm>
          <a:off x="9288914" y="1075238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34DB3A-661B-46A3-84BE-E8FFDEC63E8F}">
      <dsp:nvSpPr>
        <dsp:cNvPr id="0" name=""/>
        <dsp:cNvSpPr/>
      </dsp:nvSpPr>
      <dsp:spPr>
        <a:xfrm>
          <a:off x="8793914" y="2191638"/>
          <a:ext cx="1800000" cy="925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Improved access: Extend basic dermatology support to remote or underserved communities, aligning with WHO recommendations for digital health tools</a:t>
          </a:r>
        </a:p>
      </dsp:txBody>
      <dsp:txXfrm>
        <a:off x="8793914" y="2191638"/>
        <a:ext cx="1800000" cy="9259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4C55D8-44E1-4E2B-9EAA-F8937CC6A23A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1. Acne : </a:t>
          </a:r>
          <a:r>
            <a:rPr lang="en-US" sz="1900" kern="1200" dirty="0"/>
            <a:t>Clogged pores causing </a:t>
          </a:r>
          <a:r>
            <a:rPr lang="en-US" sz="1900" b="1" kern="1200" dirty="0"/>
            <a:t>pimples, blackheads, and cysts</a:t>
          </a:r>
          <a:r>
            <a:rPr lang="en-US" sz="1900" kern="1200" dirty="0"/>
            <a:t> on the face, chest, or back.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( Hybrid )</a:t>
          </a:r>
          <a:r>
            <a:rPr lang="en-US" sz="1900" b="1" kern="1200" dirty="0"/>
            <a:t> </a:t>
          </a:r>
          <a:endParaRPr lang="en-US" sz="1900" kern="1200" dirty="0"/>
        </a:p>
      </dsp:txBody>
      <dsp:txXfrm>
        <a:off x="0" y="39687"/>
        <a:ext cx="3286125" cy="1971675"/>
      </dsp:txXfrm>
    </dsp:sp>
    <dsp:sp modelId="{0D9E6890-F6EB-4A0A-A911-96785F51BDC7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2.Psoriasis :</a:t>
          </a:r>
          <a:r>
            <a:rPr lang="en-US" sz="1900" kern="1200" dirty="0"/>
            <a:t>Chronic autoimmune skin condition with </a:t>
          </a:r>
          <a:r>
            <a:rPr lang="en-US" sz="1900" b="1" kern="1200" dirty="0"/>
            <a:t>red patches and silvery scales</a:t>
          </a:r>
          <a:r>
            <a:rPr lang="en-US" sz="1900" kern="1200" dirty="0"/>
            <a:t>, sometimes with </a:t>
          </a:r>
          <a:r>
            <a:rPr lang="en-US" sz="1900" b="1" kern="1200" dirty="0"/>
            <a:t>joint pain</a:t>
          </a:r>
          <a:r>
            <a:rPr lang="en-US" sz="1900" kern="1200" dirty="0"/>
            <a:t>.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900" kern="1200" dirty="0"/>
            <a:t> </a:t>
          </a:r>
          <a:r>
            <a:rPr lang="en-US" sz="1900" kern="1200" dirty="0"/>
            <a:t>( Hybrid )</a:t>
          </a:r>
        </a:p>
      </dsp:txBody>
      <dsp:txXfrm>
        <a:off x="3614737" y="39687"/>
        <a:ext cx="3286125" cy="1971675"/>
      </dsp:txXfrm>
    </dsp:sp>
    <dsp:sp modelId="{28E10AF0-2C55-4322-8062-1A2EB61D2549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3. Eczema (Atopic Dermatitis) : </a:t>
          </a:r>
          <a:r>
            <a:rPr lang="en-US" sz="1900" kern="1200" dirty="0"/>
            <a:t>Inflamed, itchy skin with </a:t>
          </a:r>
          <a:r>
            <a:rPr lang="en-US" sz="1900" b="1" kern="1200" dirty="0"/>
            <a:t>dryness, blisters, and cracking</a:t>
          </a:r>
          <a:r>
            <a:rPr lang="en-US" sz="1900" kern="1200" dirty="0"/>
            <a:t>, often triggered by irritants or allergens.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( Hybrid )</a:t>
          </a:r>
        </a:p>
      </dsp:txBody>
      <dsp:txXfrm>
        <a:off x="7229475" y="39687"/>
        <a:ext cx="3286125" cy="1971675"/>
      </dsp:txXfrm>
    </dsp:sp>
    <dsp:sp modelId="{344C8923-D35C-45BF-BB07-43CAD9D49D19}">
      <dsp:nvSpPr>
        <dsp:cNvPr id="0" name=""/>
        <dsp:cNvSpPr/>
      </dsp:nvSpPr>
      <dsp:spPr>
        <a:xfrm>
          <a:off x="0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4. Ichthyosis : </a:t>
          </a:r>
          <a:r>
            <a:rPr lang="en-US" sz="1900" kern="1200" dirty="0"/>
            <a:t>Hereditary disorder causing </a:t>
          </a:r>
          <a:r>
            <a:rPr lang="en-US" sz="1900" b="1" kern="1200" dirty="0"/>
            <a:t>extremely dry, fish-scale-like skin</a:t>
          </a:r>
          <a:r>
            <a:rPr lang="en-US" sz="1900" kern="1200" dirty="0"/>
            <a:t>, usually starting in childhood.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( Questions )</a:t>
          </a:r>
          <a:r>
            <a:rPr lang="en-US" sz="1900" b="1" kern="1200" dirty="0"/>
            <a:t> </a:t>
          </a:r>
          <a:endParaRPr lang="en-US" sz="1900" kern="1200" dirty="0"/>
        </a:p>
      </dsp:txBody>
      <dsp:txXfrm>
        <a:off x="0" y="2339975"/>
        <a:ext cx="3286125" cy="1971675"/>
      </dsp:txXfrm>
    </dsp:sp>
    <dsp:sp modelId="{44071B83-B38D-4C48-BC96-19A821E1AFA2}">
      <dsp:nvSpPr>
        <dsp:cNvPr id="0" name=""/>
        <dsp:cNvSpPr/>
      </dsp:nvSpPr>
      <dsp:spPr>
        <a:xfrm>
          <a:off x="3614737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5. Meningitis Rash : </a:t>
          </a:r>
          <a:r>
            <a:rPr lang="en-US" sz="1900" kern="1200" dirty="0"/>
            <a:t>A medical emergency with </a:t>
          </a:r>
          <a:r>
            <a:rPr lang="en-US" sz="1900" b="1" kern="1200" dirty="0"/>
            <a:t>fever, severe headache, stiff neck</a:t>
          </a:r>
          <a:r>
            <a:rPr lang="en-US" sz="1900" kern="1200" dirty="0"/>
            <a:t>, and a sudden </a:t>
          </a:r>
          <a:r>
            <a:rPr lang="en-US" sz="1900" b="1" kern="1200" dirty="0"/>
            <a:t>purpuric rash</a:t>
          </a:r>
          <a:r>
            <a:rPr lang="en-US" sz="1900" kern="1200" dirty="0"/>
            <a:t>.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( Questions )</a:t>
          </a:r>
        </a:p>
      </dsp:txBody>
      <dsp:txXfrm>
        <a:off x="3614737" y="2339975"/>
        <a:ext cx="3286125" cy="1971675"/>
      </dsp:txXfrm>
    </dsp:sp>
    <dsp:sp modelId="{D8EE6433-C27C-43AE-9EC1-743FB9B3259B}">
      <dsp:nvSpPr>
        <dsp:cNvPr id="0" name=""/>
        <dsp:cNvSpPr/>
      </dsp:nvSpPr>
      <dsp:spPr>
        <a:xfrm>
          <a:off x="7229475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6. Measles (Rubeola) : </a:t>
          </a:r>
          <a:r>
            <a:rPr lang="en-US" sz="1900" kern="1200" dirty="0"/>
            <a:t>Highly contagious viral infection causing </a:t>
          </a:r>
          <a:r>
            <a:rPr lang="en-US" sz="1900" b="1" kern="1200" dirty="0"/>
            <a:t>fever, cough, runny nose</a:t>
          </a:r>
          <a:r>
            <a:rPr lang="en-US" sz="1900" kern="1200" dirty="0"/>
            <a:t>, and a spreading </a:t>
          </a:r>
          <a:r>
            <a:rPr lang="en-US" sz="1900" b="1" kern="1200" dirty="0"/>
            <a:t>red rash</a:t>
          </a:r>
          <a:r>
            <a:rPr lang="en-US" sz="1900" kern="1200" dirty="0"/>
            <a:t> with </a:t>
          </a:r>
          <a:r>
            <a:rPr lang="en-US" sz="1900" b="1" kern="1200" dirty="0"/>
            <a:t>Koplik spots</a:t>
          </a:r>
          <a:r>
            <a:rPr lang="en-US" sz="1900" kern="1200" dirty="0"/>
            <a:t>.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( Questions )</a:t>
          </a:r>
        </a:p>
      </dsp:txBody>
      <dsp:txXfrm>
        <a:off x="7229475" y="2339975"/>
        <a:ext cx="3286125" cy="19716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4C55D8-44E1-4E2B-9EAA-F8937CC6A23A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7. Scarlet Fever : </a:t>
          </a:r>
          <a:r>
            <a:rPr lang="en-US" sz="1900" kern="1200" dirty="0"/>
            <a:t>Bacterial infection causing </a:t>
          </a:r>
          <a:r>
            <a:rPr lang="en-US" sz="1900" b="1" kern="1200" dirty="0"/>
            <a:t>fever, sore throat, strawberry tongue</a:t>
          </a:r>
          <a:r>
            <a:rPr lang="en-US" sz="1900" kern="1200" dirty="0"/>
            <a:t>, and a </a:t>
          </a:r>
          <a:r>
            <a:rPr lang="en-US" sz="1900" b="1" kern="1200" dirty="0"/>
            <a:t>sandpaper-like rash</a:t>
          </a:r>
          <a:r>
            <a:rPr lang="en-US" sz="1900" kern="1200" dirty="0"/>
            <a:t>.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( Questions )</a:t>
          </a:r>
        </a:p>
      </dsp:txBody>
      <dsp:txXfrm>
        <a:off x="0" y="39687"/>
        <a:ext cx="3286125" cy="1971675"/>
      </dsp:txXfrm>
    </dsp:sp>
    <dsp:sp modelId="{0D9E6890-F6EB-4A0A-A911-96785F51BDC7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8. Insect Bites &amp; Stings : </a:t>
          </a:r>
          <a:r>
            <a:rPr lang="en-US" sz="1900" kern="1200" dirty="0"/>
            <a:t>Localized reaction after an insect bite with </a:t>
          </a:r>
          <a:r>
            <a:rPr lang="en-US" sz="1900" b="1" kern="1200" dirty="0"/>
            <a:t>redness, swelling, itching</a:t>
          </a:r>
          <a:r>
            <a:rPr lang="en-US" sz="1900" kern="1200" dirty="0"/>
            <a:t>, or pain.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( Questions )</a:t>
          </a:r>
        </a:p>
      </dsp:txBody>
      <dsp:txXfrm>
        <a:off x="3614737" y="39687"/>
        <a:ext cx="3286125" cy="1971675"/>
      </dsp:txXfrm>
    </dsp:sp>
    <dsp:sp modelId="{28E10AF0-2C55-4322-8062-1A2EB61D2549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9. Warts (HPV) : </a:t>
          </a:r>
          <a:r>
            <a:rPr lang="en-US" sz="1900" kern="1200" dirty="0"/>
            <a:t>Rough skin growths caused by </a:t>
          </a:r>
          <a:r>
            <a:rPr lang="en-US" sz="1900" b="1" kern="1200" dirty="0"/>
            <a:t>human papillomavirus</a:t>
          </a:r>
          <a:r>
            <a:rPr lang="en-US" sz="1900" kern="1200" dirty="0"/>
            <a:t>, often containing </a:t>
          </a:r>
          <a:r>
            <a:rPr lang="en-US" sz="1900" b="1" kern="1200" dirty="0"/>
            <a:t>small black dots</a:t>
          </a:r>
          <a:r>
            <a:rPr lang="en-US" sz="1900" kern="1200" dirty="0"/>
            <a:t>. ( Hybrid )</a:t>
          </a:r>
        </a:p>
      </dsp:txBody>
      <dsp:txXfrm>
        <a:off x="7229475" y="39687"/>
        <a:ext cx="3286125" cy="1971675"/>
      </dsp:txXfrm>
    </dsp:sp>
    <dsp:sp modelId="{344C8923-D35C-45BF-BB07-43CAD9D49D19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10. Fungal Infections (Tinea / Ringworm) : </a:t>
          </a:r>
          <a:r>
            <a:rPr lang="en-US" sz="1900" kern="1200" dirty="0"/>
            <a:t>A contagious fungal infection causing </a:t>
          </a:r>
          <a:r>
            <a:rPr lang="en-US" sz="1900" b="1" kern="1200" dirty="0"/>
            <a:t>red, itchy, circular scaly patches</a:t>
          </a:r>
          <a:r>
            <a:rPr lang="en-US" sz="1900" kern="1200" dirty="0"/>
            <a:t> on skin, hair, or nails.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( AI )</a:t>
          </a:r>
        </a:p>
      </dsp:txBody>
      <dsp:txXfrm>
        <a:off x="1807368" y="2339975"/>
        <a:ext cx="3286125" cy="1971675"/>
      </dsp:txXfrm>
    </dsp:sp>
    <dsp:sp modelId="{44071B83-B38D-4C48-BC96-19A821E1AFA2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11. Melanoma : </a:t>
          </a:r>
          <a:r>
            <a:rPr lang="en-US" sz="1900" kern="1200" dirty="0"/>
            <a:t>The most dangerous type of skin cancer — </a:t>
          </a:r>
          <a:r>
            <a:rPr lang="en-US" sz="1900" b="1" kern="1200" dirty="0"/>
            <a:t>rapidly spreading pigment-cell tumor</a:t>
          </a:r>
          <a:r>
            <a:rPr lang="en-US" sz="1900" kern="1200" dirty="0"/>
            <a:t> that needs early detection.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( AI )</a:t>
          </a:r>
        </a:p>
      </dsp:txBody>
      <dsp:txXfrm>
        <a:off x="5422106" y="2339975"/>
        <a:ext cx="3286125" cy="1971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9491A-D0F6-95E9-B51B-BFD65BA3D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258C38-3570-F548-52BE-1F35A5C28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61E4B-C8DD-428A-B5CB-60E3AE0B2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6D76-FAE6-4D72-BD36-7FD33E3CD341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FBB00-64E1-7C26-52E6-4E920AE3B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AA572-85AC-FD6E-96AA-DA8DAE46E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81A7F-08F0-42A6-A832-3E811CE18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9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EBF8-8EC3-937B-0177-EF9BFA249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D8BDB-0123-AD9D-2E51-425B8CCFC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FB062-3D16-5522-4586-5C48DDED7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6D76-FAE6-4D72-BD36-7FD33E3CD341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AC327-EC56-ECFE-30A1-0341262FC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FF7B1-485E-EB85-04CD-6455F773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81A7F-08F0-42A6-A832-3E811CE18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408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B992-F8FD-07BB-BBB1-FECCDD60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70C9E-C052-7AD7-EA7E-835272231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045A4-EA72-3426-1E7F-60772C8D1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6D76-FAE6-4D72-BD36-7FD33E3CD341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A10CC-334E-1AD6-FF7B-79478D7E8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E7B7B-6509-B0BD-A5BE-7C1362BD0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81A7F-08F0-42A6-A832-3E811CE18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8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2884D-C46C-96FE-0A03-7A4950EE5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7E5B6-31D2-00CC-D693-42CA812EE7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4BCCA-1E46-D8BA-C67C-0C3FD1534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AB041-E312-D128-6171-5319964A9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6D76-FAE6-4D72-BD36-7FD33E3CD341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B824FD-68D3-90F1-5B47-71F4E582B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CA56E-ABA9-0CFC-DC33-FB1D4B429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81A7F-08F0-42A6-A832-3E811CE18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505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C0336-E876-F73E-564B-85548902D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F313D-D187-CFA3-30CB-11EDAFDAB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3C5A6-5678-7263-4510-829003B4E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A2E0D9-E01F-4697-730E-9C219E0978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C7ADFA-0FFF-685A-D44A-29A4C3EC01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84A3E3-D725-FC39-0271-652F48440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6D76-FAE6-4D72-BD36-7FD33E3CD341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BD59F8-A2B5-7027-F7DE-71892D77F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21B73C-C24E-3517-2578-A8003EF60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81A7F-08F0-42A6-A832-3E811CE18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61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6D66D-7C26-9AC0-9301-80FAA978B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B49F55-65F9-B685-17C6-AD6803F29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6D76-FAE6-4D72-BD36-7FD33E3CD341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2C8154-D5C6-1166-EF4F-4E5746CE4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DABC3C-0F08-4797-D0E2-70E1A7B03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81A7F-08F0-42A6-A832-3E811CE18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44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A677B7-BEA0-ACEE-D6C9-E64DC2A21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6D76-FAE6-4D72-BD36-7FD33E3CD341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E8C9BB-8616-81E3-A05B-D3F1FA04E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1D0F7-A42D-6AD5-9C8F-ED5C61CD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81A7F-08F0-42A6-A832-3E811CE18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17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F0A8F-BE8A-93EE-AB32-FD5C14E10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F0185-C7EB-9A37-0353-5172F8BE2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6293C-7921-6C5F-01EF-83DE1C786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9AFB2-ACD8-7792-449C-85E4B3717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6D76-FAE6-4D72-BD36-7FD33E3CD341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CE188-3E2C-D9D8-8548-D48C6B708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78F76-93F4-1690-AA40-A64706BAB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81A7F-08F0-42A6-A832-3E811CE18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251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53F1D-5A55-87B9-6D87-A1252359A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3F22B4-F851-935D-63E7-207C8669D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9EA08-FDBD-DE9B-6817-F90633CFD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B9A2D7-B16C-4794-C522-E7D7EFA46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6D76-FAE6-4D72-BD36-7FD33E3CD341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53BF0-7D7E-1C72-120B-82FE23FD9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D9E27-DA91-8C86-9E42-BF294764B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81A7F-08F0-42A6-A832-3E811CE18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805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A15B8-2FD8-D78E-AEF5-778E98C0F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301621-5396-85AD-31ED-BB38AD824D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DB997-C85D-482C-A820-BE7D0E935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6D76-FAE6-4D72-BD36-7FD33E3CD341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4A155-9597-BE91-8712-3E4435B6B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8953D-B7CF-3C85-9E66-30CD28139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81A7F-08F0-42A6-A832-3E811CE18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058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88A392-B92B-36A0-C4E1-4FFCA553C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6DBECF-727A-DB86-8E0E-F0EE88466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E39BB-AA88-DCDA-9785-AF7E3DF82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6D76-FAE6-4D72-BD36-7FD33E3CD341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1C4AD-1F98-8B2A-A98D-36A01DFF8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F6006-F51C-B0FE-AD21-998C3DA53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81A7F-08F0-42A6-A832-3E811CE18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4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883D4-6BCC-94F6-A7E7-CD0815FDA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307B3-88EB-B94B-3E57-6BAC0D11B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785AB-8B80-3315-55F9-058FD89584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126D76-FAE6-4D72-BD36-7FD33E3CD341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745BD-D589-CB44-A78F-8560EAF424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826D5-6805-4331-E007-CC61969CD9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B81A7F-08F0-42A6-A832-3E811CE18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950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0F9815-C149-B37B-0444-77CADC24C9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AI-Derma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System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389BF4-2146-7635-A1E8-EF5C726A79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An AI-powered dermatology system combining image classification with a rule-based questionnaire to diagnose skin diseases.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15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A90843-0CEE-CEA9-EFFB-F73FAD557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FCA28-2F35-94C1-1D7F-30D5E4F24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Problem Statement</a:t>
            </a:r>
          </a:p>
          <a:p>
            <a:r>
              <a:rPr lang="en-US" sz="2000"/>
              <a:t>System Overview</a:t>
            </a:r>
          </a:p>
          <a:p>
            <a:r>
              <a:rPr lang="en-US" sz="2000"/>
              <a:t>Objectives</a:t>
            </a:r>
          </a:p>
          <a:p>
            <a:r>
              <a:rPr lang="en-US" sz="2000"/>
              <a:t>Hybrid Workflow</a:t>
            </a:r>
          </a:p>
          <a:p>
            <a:r>
              <a:rPr lang="en-US" sz="2000"/>
              <a:t>Targeted Disease &amp; Categorization </a:t>
            </a:r>
          </a:p>
          <a:p>
            <a:r>
              <a:rPr lang="en-US" sz="2000"/>
              <a:t>Knowledge Base</a:t>
            </a:r>
          </a:p>
          <a:p>
            <a:r>
              <a:rPr lang="en-US" sz="2000"/>
              <a:t>Data Flow diagram</a:t>
            </a:r>
          </a:p>
          <a:p>
            <a:r>
              <a:rPr lang="en-US" sz="2000"/>
              <a:t>ER diagram</a:t>
            </a:r>
          </a:p>
          <a:p>
            <a:r>
              <a:rPr lang="en-US" sz="2000"/>
              <a:t>Sequence diagram</a:t>
            </a:r>
          </a:p>
          <a:p>
            <a:r>
              <a:rPr lang="en-US" sz="2000"/>
              <a:t>Use Case diagram </a:t>
            </a:r>
          </a:p>
          <a:p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979960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827F4-3BFD-DEEA-C49A-8D46A382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4A38D-5E79-B2BF-8F05-F5CE93616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b="1">
                <a:effectLst/>
              </a:rPr>
              <a:t>Widespread burden</a:t>
            </a:r>
            <a:r>
              <a:rPr lang="en-US" sz="2000">
                <a:effectLst/>
              </a:rPr>
              <a:t>: Skin diseases affect billions worldwide (4.69 billion new cases in 2021) and rank among the top 10 causes of disability .</a:t>
            </a:r>
          </a:p>
          <a:p>
            <a:r>
              <a:rPr lang="en-US" sz="2000" b="1">
                <a:effectLst/>
              </a:rPr>
              <a:t>Diagnosis challenges</a:t>
            </a:r>
            <a:r>
              <a:rPr lang="en-US" sz="2000">
                <a:effectLst/>
              </a:rPr>
              <a:t>: Accurate diagnosis often requires a dermatologist. Many regions have few specialists, delaying care . </a:t>
            </a:r>
          </a:p>
          <a:p>
            <a:r>
              <a:rPr lang="en-US" sz="2000" b="1">
                <a:effectLst/>
              </a:rPr>
              <a:t>Similarity of symptoms</a:t>
            </a:r>
            <a:r>
              <a:rPr lang="en-US" sz="2000">
                <a:effectLst/>
              </a:rPr>
              <a:t>: Conditions can look alike; misdiagnosis is common (especially by non-experts) . </a:t>
            </a:r>
          </a:p>
          <a:p>
            <a:r>
              <a:rPr lang="en-US" sz="2000" b="1">
                <a:effectLst/>
              </a:rPr>
              <a:t>Early detection is crucial</a:t>
            </a:r>
            <a:r>
              <a:rPr lang="en-US" sz="2000">
                <a:effectLst/>
              </a:rPr>
              <a:t> (e.g. melanoma 5-year survival 99% if early vs 20% after metastasis ). </a:t>
            </a:r>
          </a:p>
        </p:txBody>
      </p:sp>
    </p:spTree>
    <p:extLst>
      <p:ext uri="{BB962C8B-B14F-4D97-AF65-F5344CB8AC3E}">
        <p14:creationId xmlns:p14="http://schemas.microsoft.com/office/powerpoint/2010/main" val="1299535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314A97-6ED7-3255-5999-498ABE11E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832B6-C0A7-BCB5-DBB0-5A65B2171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/>
              <a:t>AI-Derma is a hybrid diagnostic system that detects skin diseases using CNN image analysis supported by a rule-based expert system. If AI confidence is low, users answer symptom questions, which are matched against a medical rule database to infer a likely diagnosis. The system stores user data, images, predictions, and history, offering a complete dermatology support workflow.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981453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78F26-63CE-CEE8-BE1D-291D98A39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619780-9FA6-BBAE-815E-857E9ABAA6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640864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542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51241E-D523-4A64-5A82-2FEA317E9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Workflow</a:t>
            </a:r>
          </a:p>
        </p:txBody>
      </p:sp>
      <p:pic>
        <p:nvPicPr>
          <p:cNvPr id="7" name="Content Placeholder 6" descr="A diagram of a flowchart&#10;&#10;AI-generated content may be incorrect.">
            <a:extLst>
              <a:ext uri="{FF2B5EF4-FFF2-40B4-BE49-F238E27FC236}">
                <a16:creationId xmlns:a16="http://schemas.microsoft.com/office/drawing/2014/main" id="{9BE66EC8-A461-C8E3-422F-19D933DF9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803207"/>
            <a:ext cx="7225748" cy="325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501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7DE489-4278-FA8A-83AE-9A0D0C014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Disease Categorization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C0C2C-498F-556F-6CDF-D24B977A6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Hybrid (AI + Rule)</a:t>
            </a:r>
            <a:r>
              <a:rPr lang="ar-EG" sz="2000" b="1" dirty="0"/>
              <a:t> :</a:t>
            </a:r>
            <a:r>
              <a:rPr lang="en-US" sz="2000" dirty="0"/>
              <a:t>Cases where both the image and a few symptom-based questions are needed for better accuracy. The AI suggests possible diseases, and the rule assistant uses symptoms to differentiate between them.</a:t>
            </a:r>
          </a:p>
          <a:p>
            <a:r>
              <a:rPr lang="en-US" sz="2000" b="1" dirty="0"/>
              <a:t>AI-Detected (Image-Based Only)</a:t>
            </a:r>
            <a:r>
              <a:rPr lang="ar-EG" sz="2000" b="1" dirty="0"/>
              <a:t> : </a:t>
            </a:r>
            <a:r>
              <a:rPr lang="en-US" sz="2000" dirty="0"/>
              <a:t>Diseases that are handled by the image model only because no symptom questions were defined for them or they don’t require non-visual inputs.</a:t>
            </a:r>
            <a:br>
              <a:rPr lang="en-US" sz="2000" dirty="0"/>
            </a:br>
            <a:r>
              <a:rPr lang="en-US" sz="2000" dirty="0"/>
              <a:t>This does NOT mean the AI is 100% certain — just that there are no rule questions linked to these diseases.</a:t>
            </a:r>
            <a:endParaRPr lang="ar-EG" sz="2000" dirty="0"/>
          </a:p>
          <a:p>
            <a:r>
              <a:rPr lang="en-US" sz="2000" b="1" dirty="0"/>
              <a:t>Rule-Detected (Symptom-Based Only)</a:t>
            </a:r>
            <a:r>
              <a:rPr lang="ar-EG" sz="2000" b="1" dirty="0"/>
              <a:t> :</a:t>
            </a:r>
            <a:r>
              <a:rPr lang="en-US" sz="2000" dirty="0"/>
              <a:t>Conditions that cannot be diagnosed from an image alone and require non-visual symptoms.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40852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7E7F4-4079-1628-9372-16F093CD3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Targeted Diseases </a:t>
            </a:r>
            <a:endParaRPr lang="en-US" dirty="0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1D2B3CC1-3BD4-7E94-CC64-64C1E5EABB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048361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1362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722C5-CFF9-8F83-EFAB-F5FEE13C0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0304D-B0E5-C9DC-F92A-F2997AC67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Targeted Diseases ( Cont. )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A0385FEB-7F21-574C-3EE4-773A14E2FF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026777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5997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D2CBD5-A5FE-8AE4-CC55-F7DF0C80B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 dirty="0"/>
              <a:t>Knowledge Base </a:t>
            </a:r>
            <a:br>
              <a:rPr lang="en-US" sz="3800" dirty="0"/>
            </a:br>
            <a:r>
              <a:rPr lang="en-US" sz="2800" dirty="0"/>
              <a:t>( Rule-Based System )</a:t>
            </a:r>
            <a:r>
              <a:rPr lang="en-US" sz="3800" dirty="0"/>
              <a:t>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777A9-9794-481D-A5FE-CB5AEF8CE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4258698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 Time New"/>
              </a:rPr>
              <a:t>Basic Structure Of Rule-Based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1D6642-FA05-57A4-E79C-BBA595ED1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39" y="640080"/>
            <a:ext cx="6865034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068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710779-689B-8C9F-03F5-3AB0FCD76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EBC2E9-4822-556D-C8D4-DFCDB406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 dirty="0"/>
              <a:t>Knowledge Base </a:t>
            </a:r>
            <a:br>
              <a:rPr lang="en-US" sz="3800" dirty="0"/>
            </a:br>
            <a:r>
              <a:rPr lang="en-US" sz="2800" dirty="0"/>
              <a:t>( Rule-Based System ) </a:t>
            </a:r>
            <a:endParaRPr lang="en-US" sz="3800" dirty="0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7E935-AEE9-0D39-1AF7-1D9A9551E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dirty="0"/>
              <a:t> The inference engine cycle via a match-fire procedure</a:t>
            </a:r>
          </a:p>
          <a:p>
            <a:pPr marL="0" indent="0">
              <a:buNone/>
            </a:pPr>
            <a:r>
              <a:rPr lang="en-US" sz="2200" dirty="0">
                <a:latin typeface=" Time New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F17C59-0E2A-3C51-17E4-E2708E74D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659921"/>
            <a:ext cx="6903720" cy="353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53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B6DDD9-0872-49BE-1FF3-E8F3DE938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sz="4200">
                <a:solidFill>
                  <a:srgbClr val="FFFFFF"/>
                </a:solidFill>
              </a:rPr>
              <a:t>Knowledge Base </a:t>
            </a:r>
            <a:br>
              <a:rPr lang="en-US" sz="4200">
                <a:solidFill>
                  <a:srgbClr val="FFFFFF"/>
                </a:solidFill>
              </a:rPr>
            </a:br>
            <a:r>
              <a:rPr lang="en-US" sz="4200">
                <a:solidFill>
                  <a:srgbClr val="FFFFFF"/>
                </a:solidFill>
              </a:rPr>
              <a:t>(</a:t>
            </a:r>
            <a:r>
              <a:rPr lang="en-US" sz="4200" b="1">
                <a:solidFill>
                  <a:srgbClr val="FFFFFF"/>
                </a:solidFill>
              </a:rPr>
              <a:t>Symptom-Based Only )</a:t>
            </a:r>
            <a:endParaRPr lang="en-US" sz="4200">
              <a:solidFill>
                <a:srgbClr val="FFFFFF"/>
              </a:solidFill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0BE79D77-1E1C-D9FF-56F3-8BDD32A23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3200" b="1" dirty="0"/>
              <a:t>Skin Rashes WITHOUT Fever</a:t>
            </a:r>
          </a:p>
          <a:p>
            <a:pPr marL="0" indent="0">
              <a:buNone/>
            </a:pPr>
            <a:r>
              <a:rPr lang="en-US" sz="2000" dirty="0"/>
              <a:t>includes skin conditions not associated with fever. Each condition has a unique symptom pattern.</a:t>
            </a:r>
            <a:endParaRPr lang="ar-EG" sz="2800" b="1" dirty="0"/>
          </a:p>
          <a:p>
            <a:pPr marL="0" indent="0">
              <a:buNone/>
            </a:pPr>
            <a:r>
              <a:rPr lang="en-US" sz="3200" b="1" dirty="0"/>
              <a:t>2. Skin Rashes WITH Fever</a:t>
            </a:r>
          </a:p>
          <a:p>
            <a:pPr marL="0" indent="0">
              <a:buNone/>
            </a:pPr>
            <a:r>
              <a:rPr lang="en-US" sz="2000" dirty="0"/>
              <a:t>deals with skin rashes accompanied by systemic symptoms such as fever, sore throat, or headache. </a:t>
            </a: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3. Skin Infections</a:t>
            </a:r>
          </a:p>
          <a:p>
            <a:pPr marL="0" indent="0">
              <a:buNone/>
            </a:pPr>
            <a:r>
              <a:rPr lang="en-US" sz="2000" dirty="0"/>
              <a:t>includes localized or viral infections affecting the skin.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88579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C756F5-C21B-11D5-4BAB-003529DC3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sz="3200" b="1" dirty="0"/>
              <a:t>Skin Rashes WITHOUT Fever</a:t>
            </a:r>
            <a:endParaRPr lang="en-US" sz="3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4C0A6E5-FA2A-6F25-11DB-8F96BB0546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508674"/>
              </p:ext>
            </p:extLst>
          </p:nvPr>
        </p:nvGraphicFramePr>
        <p:xfrm>
          <a:off x="838200" y="2578317"/>
          <a:ext cx="10515601" cy="305342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240964">
                  <a:extLst>
                    <a:ext uri="{9D8B030D-6E8A-4147-A177-3AD203B41FA5}">
                      <a16:colId xmlns:a16="http://schemas.microsoft.com/office/drawing/2014/main" val="622940223"/>
                    </a:ext>
                  </a:extLst>
                </a:gridCol>
                <a:gridCol w="4119897">
                  <a:extLst>
                    <a:ext uri="{9D8B030D-6E8A-4147-A177-3AD203B41FA5}">
                      <a16:colId xmlns:a16="http://schemas.microsoft.com/office/drawing/2014/main" val="1861596285"/>
                    </a:ext>
                  </a:extLst>
                </a:gridCol>
                <a:gridCol w="4154740">
                  <a:extLst>
                    <a:ext uri="{9D8B030D-6E8A-4147-A177-3AD203B41FA5}">
                      <a16:colId xmlns:a16="http://schemas.microsoft.com/office/drawing/2014/main" val="634197438"/>
                    </a:ext>
                  </a:extLst>
                </a:gridCol>
              </a:tblGrid>
              <a:tr h="375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Disease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Rule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Facts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extLst>
                  <a:ext uri="{0D108BD9-81ED-4DB2-BD59-A6C34878D82A}">
                    <a16:rowId xmlns:a16="http://schemas.microsoft.com/office/drawing/2014/main" val="2407551930"/>
                  </a:ext>
                </a:extLst>
              </a:tr>
              <a:tr h="2678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Psoriasis</a:t>
                      </a:r>
                      <a:endParaRPr lang="en-US" sz="1700" dirty="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@Rule(AND(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Psoriasis(</a:t>
                      </a:r>
                      <a:r>
                        <a:rPr lang="en-US" sz="1700" dirty="0" err="1"/>
                        <a:t>red_patches</a:t>
                      </a:r>
                      <a:r>
                        <a:rPr lang="en-US" sz="1700" dirty="0"/>
                        <a:t> = True),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Psoriasis(</a:t>
                      </a:r>
                      <a:r>
                        <a:rPr lang="en-US" sz="1700" dirty="0" err="1"/>
                        <a:t>white_silvery_scales</a:t>
                      </a:r>
                      <a:r>
                        <a:rPr lang="en-US" sz="1700" dirty="0"/>
                        <a:t> = True),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OR(Psoriasis(</a:t>
                      </a:r>
                      <a:r>
                        <a:rPr lang="en-US" sz="1700" dirty="0" err="1"/>
                        <a:t>nail_pitting</a:t>
                      </a:r>
                      <a:r>
                        <a:rPr lang="en-US" sz="1700" dirty="0"/>
                        <a:t> = True), Psoriasis(</a:t>
                      </a:r>
                      <a:r>
                        <a:rPr lang="en-US" sz="1700" dirty="0" err="1"/>
                        <a:t>joint_pain</a:t>
                      </a:r>
                      <a:r>
                        <a:rPr lang="en-US" sz="1700" dirty="0"/>
                        <a:t> = True))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))</a:t>
                      </a:r>
                    </a:p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red patches on skin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white / silvery scales covering patches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nail pitting OR joint pain (possible psoriatic arthritis)</a:t>
                      </a:r>
                    </a:p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5291" marR="85291" marT="42646" marB="42646" anchor="ctr"/>
                </a:tc>
                <a:extLst>
                  <a:ext uri="{0D108BD9-81ED-4DB2-BD59-A6C34878D82A}">
                    <a16:rowId xmlns:a16="http://schemas.microsoft.com/office/drawing/2014/main" val="3094312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447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89403F-A804-8C05-44A9-416620926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FA463A0-E5AD-8D07-2145-D3FE36821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F10CA2-7FA9-390C-B110-109CC790B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sz="3200" b="1" dirty="0"/>
              <a:t>Skin Rashes WITHOUT Fever</a:t>
            </a:r>
            <a:endParaRPr lang="ar-EG" sz="32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57ED32-8632-CC68-366C-5C0071D7E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2B147B-C677-8AC8-9F2C-09A9F11F1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3FC645B-BA3B-8A38-5EAA-FD15BF612C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1169573"/>
              </p:ext>
            </p:extLst>
          </p:nvPr>
        </p:nvGraphicFramePr>
        <p:xfrm>
          <a:off x="838200" y="2578317"/>
          <a:ext cx="10515601" cy="305342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240964">
                  <a:extLst>
                    <a:ext uri="{9D8B030D-6E8A-4147-A177-3AD203B41FA5}">
                      <a16:colId xmlns:a16="http://schemas.microsoft.com/office/drawing/2014/main" val="622940223"/>
                    </a:ext>
                  </a:extLst>
                </a:gridCol>
                <a:gridCol w="4119897">
                  <a:extLst>
                    <a:ext uri="{9D8B030D-6E8A-4147-A177-3AD203B41FA5}">
                      <a16:colId xmlns:a16="http://schemas.microsoft.com/office/drawing/2014/main" val="1861596285"/>
                    </a:ext>
                  </a:extLst>
                </a:gridCol>
                <a:gridCol w="4154740">
                  <a:extLst>
                    <a:ext uri="{9D8B030D-6E8A-4147-A177-3AD203B41FA5}">
                      <a16:colId xmlns:a16="http://schemas.microsoft.com/office/drawing/2014/main" val="634197438"/>
                    </a:ext>
                  </a:extLst>
                </a:gridCol>
              </a:tblGrid>
              <a:tr h="375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Disease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Rule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Facts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extLst>
                  <a:ext uri="{0D108BD9-81ED-4DB2-BD59-A6C34878D82A}">
                    <a16:rowId xmlns:a16="http://schemas.microsoft.com/office/drawing/2014/main" val="2407551930"/>
                  </a:ext>
                </a:extLst>
              </a:tr>
              <a:tr h="2678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Eczema (Atopic Dermatitis)</a:t>
                      </a:r>
                      <a:endParaRPr lang="en-US" sz="1700" dirty="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@Rule(AND(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Eczema(</a:t>
                      </a:r>
                      <a:r>
                        <a:rPr lang="en-US" sz="1700" dirty="0" err="1"/>
                        <a:t>small_blisters_may_ooze</a:t>
                      </a:r>
                      <a:r>
                        <a:rPr lang="en-US" sz="1700" dirty="0"/>
                        <a:t> = True),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Eczema(</a:t>
                      </a:r>
                      <a:r>
                        <a:rPr lang="en-US" sz="1700" dirty="0" err="1"/>
                        <a:t>intense_itching</a:t>
                      </a:r>
                      <a:r>
                        <a:rPr lang="en-US" sz="1700" dirty="0"/>
                        <a:t> = True),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Eczema(</a:t>
                      </a:r>
                      <a:r>
                        <a:rPr lang="en-US" sz="1700" dirty="0" err="1"/>
                        <a:t>skin_thickened_or_cracked</a:t>
                      </a:r>
                      <a:r>
                        <a:rPr lang="en-US" sz="1700" dirty="0"/>
                        <a:t> = True)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))</a:t>
                      </a:r>
                    </a:p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small blisters that may ooze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intense itching (often worse at night)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skin becomes thickened / cracked over time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often linked to irritants or allergens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700" dirty="0"/>
                    </a:p>
                  </a:txBody>
                  <a:tcPr marL="85291" marR="85291" marT="42646" marB="42646" anchor="ctr"/>
                </a:tc>
                <a:extLst>
                  <a:ext uri="{0D108BD9-81ED-4DB2-BD59-A6C34878D82A}">
                    <a16:rowId xmlns:a16="http://schemas.microsoft.com/office/drawing/2014/main" val="3094312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9224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AE1B5-F942-FAC1-7CB3-839DA2CCB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AF1D69-E505-76BC-927A-92B7C500A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C4519F-1EA1-2919-C39D-9D0E08D07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sz="3200" b="1" dirty="0"/>
              <a:t>Skin Rashes WITHOUT Fever</a:t>
            </a:r>
            <a:endParaRPr lang="ar-EG" sz="32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6A7FB2-CE97-90DC-2490-EC8BE266D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AE90BC-756E-7660-3149-104A95A04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868B967-1A72-E322-64D9-1EFC4E7F76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0218904"/>
              </p:ext>
            </p:extLst>
          </p:nvPr>
        </p:nvGraphicFramePr>
        <p:xfrm>
          <a:off x="838200" y="2578317"/>
          <a:ext cx="10515601" cy="305342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240964">
                  <a:extLst>
                    <a:ext uri="{9D8B030D-6E8A-4147-A177-3AD203B41FA5}">
                      <a16:colId xmlns:a16="http://schemas.microsoft.com/office/drawing/2014/main" val="622940223"/>
                    </a:ext>
                  </a:extLst>
                </a:gridCol>
                <a:gridCol w="4119897">
                  <a:extLst>
                    <a:ext uri="{9D8B030D-6E8A-4147-A177-3AD203B41FA5}">
                      <a16:colId xmlns:a16="http://schemas.microsoft.com/office/drawing/2014/main" val="1861596285"/>
                    </a:ext>
                  </a:extLst>
                </a:gridCol>
                <a:gridCol w="4154740">
                  <a:extLst>
                    <a:ext uri="{9D8B030D-6E8A-4147-A177-3AD203B41FA5}">
                      <a16:colId xmlns:a16="http://schemas.microsoft.com/office/drawing/2014/main" val="634197438"/>
                    </a:ext>
                  </a:extLst>
                </a:gridCol>
              </a:tblGrid>
              <a:tr h="375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Disease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Rule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Facts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extLst>
                  <a:ext uri="{0D108BD9-81ED-4DB2-BD59-A6C34878D82A}">
                    <a16:rowId xmlns:a16="http://schemas.microsoft.com/office/drawing/2014/main" val="2407551930"/>
                  </a:ext>
                </a:extLst>
              </a:tr>
              <a:tr h="2678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Acne</a:t>
                      </a:r>
                      <a:endParaRPr lang="en-US" sz="1700" dirty="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@Rule(AND(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Acne(</a:t>
                      </a:r>
                      <a:r>
                        <a:rPr lang="en-US" sz="1700" dirty="0" err="1"/>
                        <a:t>blackheads_or_whiteheads</a:t>
                      </a:r>
                      <a:r>
                        <a:rPr lang="en-US" sz="1700" dirty="0"/>
                        <a:t> = True),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OR(Acne(</a:t>
                      </a:r>
                      <a:r>
                        <a:rPr lang="en-US" sz="1700" dirty="0" err="1"/>
                        <a:t>inflamed_pimples</a:t>
                      </a:r>
                      <a:r>
                        <a:rPr lang="en-US" sz="1700" dirty="0"/>
                        <a:t> = True), Acne(</a:t>
                      </a:r>
                      <a:r>
                        <a:rPr lang="en-US" sz="1700" dirty="0" err="1"/>
                        <a:t>oily_skin_with_cysts</a:t>
                      </a:r>
                      <a:r>
                        <a:rPr lang="en-US" sz="1700" dirty="0"/>
                        <a:t> = True))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))</a:t>
                      </a:r>
                    </a:p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blackheads / whiteheads / papules / pustules or deeper cysts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oily skin; typical on face/chest/back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possible scarring in severe cases</a:t>
                      </a:r>
                    </a:p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5291" marR="85291" marT="42646" marB="42646" anchor="ctr"/>
                </a:tc>
                <a:extLst>
                  <a:ext uri="{0D108BD9-81ED-4DB2-BD59-A6C34878D82A}">
                    <a16:rowId xmlns:a16="http://schemas.microsoft.com/office/drawing/2014/main" val="3094312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0080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8C5805-069A-4808-B860-FF59C2C83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B3F60EF-7D66-9DFF-05F8-BAF08D845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C8464-7917-1DA6-8745-80A480619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sz="3200" b="1" dirty="0"/>
              <a:t>Skin Rashes WITHOUT Fever</a:t>
            </a:r>
            <a:endParaRPr lang="ar-EG" sz="32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3461F9-0BEC-38AF-54E5-55C76E4F3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8C970E-71C0-DA5B-A468-B5A495AC1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A172AD2-E644-8C8E-ABE2-123142A33E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2029498"/>
              </p:ext>
            </p:extLst>
          </p:nvPr>
        </p:nvGraphicFramePr>
        <p:xfrm>
          <a:off x="838200" y="2578317"/>
          <a:ext cx="10515601" cy="305342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240964">
                  <a:extLst>
                    <a:ext uri="{9D8B030D-6E8A-4147-A177-3AD203B41FA5}">
                      <a16:colId xmlns:a16="http://schemas.microsoft.com/office/drawing/2014/main" val="622940223"/>
                    </a:ext>
                  </a:extLst>
                </a:gridCol>
                <a:gridCol w="4119897">
                  <a:extLst>
                    <a:ext uri="{9D8B030D-6E8A-4147-A177-3AD203B41FA5}">
                      <a16:colId xmlns:a16="http://schemas.microsoft.com/office/drawing/2014/main" val="1861596285"/>
                    </a:ext>
                  </a:extLst>
                </a:gridCol>
                <a:gridCol w="4154740">
                  <a:extLst>
                    <a:ext uri="{9D8B030D-6E8A-4147-A177-3AD203B41FA5}">
                      <a16:colId xmlns:a16="http://schemas.microsoft.com/office/drawing/2014/main" val="634197438"/>
                    </a:ext>
                  </a:extLst>
                </a:gridCol>
              </a:tblGrid>
              <a:tr h="375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Disease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Rule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Facts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extLst>
                  <a:ext uri="{0D108BD9-81ED-4DB2-BD59-A6C34878D82A}">
                    <a16:rowId xmlns:a16="http://schemas.microsoft.com/office/drawing/2014/main" val="2407551930"/>
                  </a:ext>
                </a:extLst>
              </a:tr>
              <a:tr h="2678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Ichthyosis</a:t>
                      </a:r>
                      <a:endParaRPr lang="en-US" sz="1700" dirty="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@Rule(AND(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Ichthyosis(</a:t>
                      </a:r>
                      <a:r>
                        <a:rPr lang="en-US" sz="1700" dirty="0" err="1"/>
                        <a:t>extremely_dry_skin</a:t>
                      </a:r>
                      <a:r>
                        <a:rPr lang="en-US" sz="1700" dirty="0"/>
                        <a:t> = True),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Ichthyosis(</a:t>
                      </a:r>
                      <a:r>
                        <a:rPr lang="en-US" sz="1700" dirty="0" err="1"/>
                        <a:t>fish_like_scales</a:t>
                      </a:r>
                      <a:r>
                        <a:rPr lang="en-US" sz="1700" dirty="0"/>
                        <a:t> = True),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Ichthyosis(</a:t>
                      </a:r>
                      <a:r>
                        <a:rPr lang="en-US" sz="1700" dirty="0" err="1"/>
                        <a:t>onset_childhood</a:t>
                      </a:r>
                      <a:r>
                        <a:rPr lang="en-US" sz="1700" dirty="0"/>
                        <a:t> = True)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))</a:t>
                      </a:r>
                    </a:p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extreme dryness and fish-scale like scaling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typical childhood onset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chronic, worse in cold climates</a:t>
                      </a:r>
                    </a:p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5291" marR="85291" marT="42646" marB="42646" anchor="ctr"/>
                </a:tc>
                <a:extLst>
                  <a:ext uri="{0D108BD9-81ED-4DB2-BD59-A6C34878D82A}">
                    <a16:rowId xmlns:a16="http://schemas.microsoft.com/office/drawing/2014/main" val="3094312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8938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C92CD2-B9B8-C307-EB15-CF82B565B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934BB6B-FB60-6D47-043F-3B3446348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E18489-E6F2-89A0-C582-4C9AC93B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sz="3200" b="1" dirty="0"/>
              <a:t>Skin Rashes WITH Fever</a:t>
            </a:r>
            <a:endParaRPr lang="en-US" sz="31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365082-6EF5-7C60-B2D1-568F0BDFF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974EF3-682F-A690-6A7B-202ED9ED8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D1661ED-10CC-45FE-4623-F086C12902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535412"/>
              </p:ext>
            </p:extLst>
          </p:nvPr>
        </p:nvGraphicFramePr>
        <p:xfrm>
          <a:off x="838200" y="2578317"/>
          <a:ext cx="10515601" cy="305342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240964">
                  <a:extLst>
                    <a:ext uri="{9D8B030D-6E8A-4147-A177-3AD203B41FA5}">
                      <a16:colId xmlns:a16="http://schemas.microsoft.com/office/drawing/2014/main" val="622940223"/>
                    </a:ext>
                  </a:extLst>
                </a:gridCol>
                <a:gridCol w="4119897">
                  <a:extLst>
                    <a:ext uri="{9D8B030D-6E8A-4147-A177-3AD203B41FA5}">
                      <a16:colId xmlns:a16="http://schemas.microsoft.com/office/drawing/2014/main" val="1861596285"/>
                    </a:ext>
                  </a:extLst>
                </a:gridCol>
                <a:gridCol w="4154740">
                  <a:extLst>
                    <a:ext uri="{9D8B030D-6E8A-4147-A177-3AD203B41FA5}">
                      <a16:colId xmlns:a16="http://schemas.microsoft.com/office/drawing/2014/main" val="634197438"/>
                    </a:ext>
                  </a:extLst>
                </a:gridCol>
              </a:tblGrid>
              <a:tr h="375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Disease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Rule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Facts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extLst>
                  <a:ext uri="{0D108BD9-81ED-4DB2-BD59-A6C34878D82A}">
                    <a16:rowId xmlns:a16="http://schemas.microsoft.com/office/drawing/2014/main" val="2407551930"/>
                  </a:ext>
                </a:extLst>
              </a:tr>
              <a:tr h="2678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Meningitis</a:t>
                      </a:r>
                      <a:endParaRPr lang="en-US" sz="1700" dirty="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@Rule(AND(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Meningitis(</a:t>
                      </a:r>
                      <a:r>
                        <a:rPr lang="en-US" sz="1700" dirty="0" err="1"/>
                        <a:t>severe_headache</a:t>
                      </a:r>
                      <a:r>
                        <a:rPr lang="en-US" sz="1700" dirty="0"/>
                        <a:t> = True),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Meningitis(</a:t>
                      </a:r>
                      <a:r>
                        <a:rPr lang="en-US" sz="1700" dirty="0" err="1"/>
                        <a:t>neck_stiffness</a:t>
                      </a:r>
                      <a:r>
                        <a:rPr lang="en-US" sz="1700" dirty="0"/>
                        <a:t> = True),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Meningitis(fever = True),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Meningitis(</a:t>
                      </a:r>
                      <a:r>
                        <a:rPr lang="en-US" sz="1700" dirty="0" err="1"/>
                        <a:t>altered_consciousness_or_confusion</a:t>
                      </a:r>
                      <a:r>
                        <a:rPr lang="en-US" sz="1700" dirty="0"/>
                        <a:t> = POSSIBLE),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Meningitis(</a:t>
                      </a:r>
                      <a:r>
                        <a:rPr lang="en-US" sz="1700" dirty="0" err="1"/>
                        <a:t>sudden_skin_rash</a:t>
                      </a:r>
                      <a:r>
                        <a:rPr lang="en-US" sz="1700" dirty="0"/>
                        <a:t> = True)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))</a:t>
                      </a:r>
                    </a:p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severe headache + neck stiffness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fever, vomiting, altered consciousness possible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sudden skin rash may appear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dirty="0"/>
                    </a:p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5291" marR="85291" marT="42646" marB="42646" anchor="ctr"/>
                </a:tc>
                <a:extLst>
                  <a:ext uri="{0D108BD9-81ED-4DB2-BD59-A6C34878D82A}">
                    <a16:rowId xmlns:a16="http://schemas.microsoft.com/office/drawing/2014/main" val="3094312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9762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FE5613-9BAB-FD5F-53EE-76A3E3EA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EC8817E-B65E-EBDC-9CAC-0CE599BB5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302EA3-E9AB-0E17-A5AF-06A9D98E1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sz="3200" b="1" dirty="0"/>
              <a:t>Skin Rashes WITH Fever</a:t>
            </a:r>
            <a:endParaRPr lang="en-US" sz="3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599596-F88E-DD6F-658C-BD9ED06EA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33E208-7707-BF8F-1D9E-FE9486A7A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8B338D8-F535-AC3B-219D-2420814A87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9931561"/>
              </p:ext>
            </p:extLst>
          </p:nvPr>
        </p:nvGraphicFramePr>
        <p:xfrm>
          <a:off x="838200" y="2578317"/>
          <a:ext cx="10515601" cy="305342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240964">
                  <a:extLst>
                    <a:ext uri="{9D8B030D-6E8A-4147-A177-3AD203B41FA5}">
                      <a16:colId xmlns:a16="http://schemas.microsoft.com/office/drawing/2014/main" val="622940223"/>
                    </a:ext>
                  </a:extLst>
                </a:gridCol>
                <a:gridCol w="4119897">
                  <a:extLst>
                    <a:ext uri="{9D8B030D-6E8A-4147-A177-3AD203B41FA5}">
                      <a16:colId xmlns:a16="http://schemas.microsoft.com/office/drawing/2014/main" val="1861596285"/>
                    </a:ext>
                  </a:extLst>
                </a:gridCol>
                <a:gridCol w="4154740">
                  <a:extLst>
                    <a:ext uri="{9D8B030D-6E8A-4147-A177-3AD203B41FA5}">
                      <a16:colId xmlns:a16="http://schemas.microsoft.com/office/drawing/2014/main" val="634197438"/>
                    </a:ext>
                  </a:extLst>
                </a:gridCol>
              </a:tblGrid>
              <a:tr h="375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Disease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Rule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Facts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extLst>
                  <a:ext uri="{0D108BD9-81ED-4DB2-BD59-A6C34878D82A}">
                    <a16:rowId xmlns:a16="http://schemas.microsoft.com/office/drawing/2014/main" val="2407551930"/>
                  </a:ext>
                </a:extLst>
              </a:tr>
              <a:tr h="2678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Measles </a:t>
                      </a:r>
                      <a:endParaRPr lang="en-US" sz="1700" dirty="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@Rule(AND(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Measles(cough = True),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Measles(</a:t>
                      </a:r>
                      <a:r>
                        <a:rPr lang="en-US" sz="1700" dirty="0" err="1"/>
                        <a:t>runny_nose</a:t>
                      </a:r>
                      <a:r>
                        <a:rPr lang="en-US" sz="1700" dirty="0"/>
                        <a:t> = True),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Measles(fever = True),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Measles(</a:t>
                      </a:r>
                      <a:r>
                        <a:rPr lang="en-US" sz="1700" dirty="0" err="1"/>
                        <a:t>koplik_spots_in_mouth</a:t>
                      </a:r>
                      <a:r>
                        <a:rPr lang="en-US" sz="1700" dirty="0"/>
                        <a:t> = True),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Measles(</a:t>
                      </a:r>
                      <a:r>
                        <a:rPr lang="en-US" sz="1700" dirty="0" err="1"/>
                        <a:t>spreading_rash_after_respiratory</a:t>
                      </a:r>
                      <a:r>
                        <a:rPr lang="en-US" sz="1700" dirty="0"/>
                        <a:t> = True)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))</a:t>
                      </a:r>
                    </a:p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cough, coryza (runny nose), fever prodrome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Koplik spots (small white spots inside mouth)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spreading red rash after respiratory symptoms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700" dirty="0"/>
                    </a:p>
                  </a:txBody>
                  <a:tcPr marL="85291" marR="85291" marT="42646" marB="42646" anchor="ctr"/>
                </a:tc>
                <a:extLst>
                  <a:ext uri="{0D108BD9-81ED-4DB2-BD59-A6C34878D82A}">
                    <a16:rowId xmlns:a16="http://schemas.microsoft.com/office/drawing/2014/main" val="3094312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3578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C3B1F5-5B78-1C99-6D36-9D506888B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5FBB39A-936E-A8CA-3983-66E9AD758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6F6F6E-65D8-820D-1CBE-B6ABB6632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sz="3200" b="1" dirty="0"/>
              <a:t>Skin Rashes WITH Fever</a:t>
            </a:r>
            <a:endParaRPr lang="en-US" sz="3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01720D-2AB6-95C1-375A-3722D4108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A14AAC-0498-2116-113D-5B5D2F37BF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939412D-51D7-87CF-C24C-1308D72936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6999344"/>
              </p:ext>
            </p:extLst>
          </p:nvPr>
        </p:nvGraphicFramePr>
        <p:xfrm>
          <a:off x="838200" y="2578317"/>
          <a:ext cx="10515601" cy="305342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240964">
                  <a:extLst>
                    <a:ext uri="{9D8B030D-6E8A-4147-A177-3AD203B41FA5}">
                      <a16:colId xmlns:a16="http://schemas.microsoft.com/office/drawing/2014/main" val="622940223"/>
                    </a:ext>
                  </a:extLst>
                </a:gridCol>
                <a:gridCol w="4119897">
                  <a:extLst>
                    <a:ext uri="{9D8B030D-6E8A-4147-A177-3AD203B41FA5}">
                      <a16:colId xmlns:a16="http://schemas.microsoft.com/office/drawing/2014/main" val="1861596285"/>
                    </a:ext>
                  </a:extLst>
                </a:gridCol>
                <a:gridCol w="4154740">
                  <a:extLst>
                    <a:ext uri="{9D8B030D-6E8A-4147-A177-3AD203B41FA5}">
                      <a16:colId xmlns:a16="http://schemas.microsoft.com/office/drawing/2014/main" val="634197438"/>
                    </a:ext>
                  </a:extLst>
                </a:gridCol>
              </a:tblGrid>
              <a:tr h="375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Disease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Rule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Facts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extLst>
                  <a:ext uri="{0D108BD9-81ED-4DB2-BD59-A6C34878D82A}">
                    <a16:rowId xmlns:a16="http://schemas.microsoft.com/office/drawing/2014/main" val="2407551930"/>
                  </a:ext>
                </a:extLst>
              </a:tr>
              <a:tr h="2678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Scarlet Fever</a:t>
                      </a:r>
                      <a:endParaRPr lang="en-US" sz="1700" dirty="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@Rule(AND(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</a:t>
                      </a:r>
                      <a:r>
                        <a:rPr lang="en-US" sz="1700" dirty="0" err="1"/>
                        <a:t>ScarletFever</a:t>
                      </a:r>
                      <a:r>
                        <a:rPr lang="en-US" sz="1700" dirty="0"/>
                        <a:t>(</a:t>
                      </a:r>
                      <a:r>
                        <a:rPr lang="en-US" sz="1700" dirty="0" err="1"/>
                        <a:t>sore_throat</a:t>
                      </a:r>
                      <a:r>
                        <a:rPr lang="en-US" sz="1700" dirty="0"/>
                        <a:t> = True),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</a:t>
                      </a:r>
                      <a:r>
                        <a:rPr lang="en-US" sz="1700" dirty="0" err="1"/>
                        <a:t>ScarletFever</a:t>
                      </a:r>
                      <a:r>
                        <a:rPr lang="en-US" sz="1700" dirty="0"/>
                        <a:t>(fever = True),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</a:t>
                      </a:r>
                      <a:r>
                        <a:rPr lang="en-US" sz="1700" dirty="0" err="1"/>
                        <a:t>ScarletFever</a:t>
                      </a:r>
                      <a:r>
                        <a:rPr lang="en-US" sz="1700" dirty="0"/>
                        <a:t>(</a:t>
                      </a:r>
                      <a:r>
                        <a:rPr lang="en-US" sz="1700" dirty="0" err="1"/>
                        <a:t>strawberry_tongue</a:t>
                      </a:r>
                      <a:r>
                        <a:rPr lang="en-US" sz="1700" dirty="0"/>
                        <a:t> = True),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</a:t>
                      </a:r>
                      <a:r>
                        <a:rPr lang="en-US" sz="1700" dirty="0" err="1"/>
                        <a:t>ScarletFever</a:t>
                      </a:r>
                      <a:r>
                        <a:rPr lang="en-US" sz="1700" dirty="0"/>
                        <a:t>(</a:t>
                      </a:r>
                      <a:r>
                        <a:rPr lang="en-US" sz="1700" dirty="0" err="1"/>
                        <a:t>sandpaper_rash</a:t>
                      </a:r>
                      <a:r>
                        <a:rPr lang="en-US" sz="1700" dirty="0"/>
                        <a:t> = True)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))</a:t>
                      </a:r>
                    </a:p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sudden sore throat with fever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red/swollen (“strawberry”) tongue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coarse / sandpaper-like rash (often chest/neck)</a:t>
                      </a:r>
                    </a:p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5291" marR="85291" marT="42646" marB="42646" anchor="ctr"/>
                </a:tc>
                <a:extLst>
                  <a:ext uri="{0D108BD9-81ED-4DB2-BD59-A6C34878D82A}">
                    <a16:rowId xmlns:a16="http://schemas.microsoft.com/office/drawing/2014/main" val="3094312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7006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8702A-E7EA-2BE2-E515-E533A3FDE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A0F2EC5-4C2E-AF01-7136-E2BE57EE9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A7DB60-4931-9DB5-8F9D-4961A910F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sz="3200" dirty="0"/>
              <a:t>Skin Infections</a:t>
            </a:r>
            <a:endParaRPr lang="en-US" sz="3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929454-F6BE-ADCB-6999-6F72E6943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C5A717-C860-B78F-363B-61A5103A6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78E35AC-6204-3E84-060E-1F83BD8381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5803023"/>
              </p:ext>
            </p:extLst>
          </p:nvPr>
        </p:nvGraphicFramePr>
        <p:xfrm>
          <a:off x="838200" y="2578317"/>
          <a:ext cx="10515601" cy="305342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240964">
                  <a:extLst>
                    <a:ext uri="{9D8B030D-6E8A-4147-A177-3AD203B41FA5}">
                      <a16:colId xmlns:a16="http://schemas.microsoft.com/office/drawing/2014/main" val="622940223"/>
                    </a:ext>
                  </a:extLst>
                </a:gridCol>
                <a:gridCol w="4119897">
                  <a:extLst>
                    <a:ext uri="{9D8B030D-6E8A-4147-A177-3AD203B41FA5}">
                      <a16:colId xmlns:a16="http://schemas.microsoft.com/office/drawing/2014/main" val="1861596285"/>
                    </a:ext>
                  </a:extLst>
                </a:gridCol>
                <a:gridCol w="4154740">
                  <a:extLst>
                    <a:ext uri="{9D8B030D-6E8A-4147-A177-3AD203B41FA5}">
                      <a16:colId xmlns:a16="http://schemas.microsoft.com/office/drawing/2014/main" val="634197438"/>
                    </a:ext>
                  </a:extLst>
                </a:gridCol>
              </a:tblGrid>
              <a:tr h="375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Disease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Rule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Facts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extLst>
                  <a:ext uri="{0D108BD9-81ED-4DB2-BD59-A6C34878D82A}">
                    <a16:rowId xmlns:a16="http://schemas.microsoft.com/office/drawing/2014/main" val="2407551930"/>
                  </a:ext>
                </a:extLst>
              </a:tr>
              <a:tr h="2678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Insect Bite</a:t>
                      </a:r>
                      <a:endParaRPr lang="en-US" sz="1700" dirty="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@Rule(AND(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</a:t>
                      </a:r>
                      <a:r>
                        <a:rPr lang="en-US" sz="1700" dirty="0" err="1"/>
                        <a:t>InsectBite</a:t>
                      </a:r>
                      <a:r>
                        <a:rPr lang="en-US" sz="1700" dirty="0"/>
                        <a:t>(</a:t>
                      </a:r>
                      <a:r>
                        <a:rPr lang="en-US" sz="1700" dirty="0" err="1"/>
                        <a:t>onset_after_bite_or_sting</a:t>
                      </a:r>
                      <a:r>
                        <a:rPr lang="en-US" sz="1700" dirty="0"/>
                        <a:t> = True),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</a:t>
                      </a:r>
                      <a:r>
                        <a:rPr lang="en-US" sz="1700" dirty="0" err="1"/>
                        <a:t>InsectBite</a:t>
                      </a:r>
                      <a:r>
                        <a:rPr lang="en-US" sz="1700" dirty="0"/>
                        <a:t>(</a:t>
                      </a:r>
                      <a:r>
                        <a:rPr lang="en-US" sz="1700" dirty="0" err="1"/>
                        <a:t>local_redness</a:t>
                      </a:r>
                      <a:r>
                        <a:rPr lang="en-US" sz="1700" dirty="0"/>
                        <a:t> = True),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</a:t>
                      </a:r>
                      <a:r>
                        <a:rPr lang="en-US" sz="1700" dirty="0" err="1"/>
                        <a:t>InsectBite</a:t>
                      </a:r>
                      <a:r>
                        <a:rPr lang="en-US" sz="1700" dirty="0"/>
                        <a:t>(swelling = True),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OR(</a:t>
                      </a:r>
                      <a:r>
                        <a:rPr lang="en-US" sz="1700" dirty="0" err="1"/>
                        <a:t>InsectBite</a:t>
                      </a:r>
                      <a:r>
                        <a:rPr lang="en-US" sz="1700" dirty="0"/>
                        <a:t>(pain = True), </a:t>
                      </a:r>
                      <a:r>
                        <a:rPr lang="en-US" sz="1700" dirty="0" err="1"/>
                        <a:t>InsectBite</a:t>
                      </a:r>
                      <a:r>
                        <a:rPr lang="en-US" sz="1700" dirty="0"/>
                        <a:t>(itching = True))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))</a:t>
                      </a:r>
                    </a:p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red, swollen, painful or itchy lump at site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may have systemic signs in severe allergic reaction</a:t>
                      </a:r>
                    </a:p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5291" marR="85291" marT="42646" marB="42646" anchor="ctr"/>
                </a:tc>
                <a:extLst>
                  <a:ext uri="{0D108BD9-81ED-4DB2-BD59-A6C34878D82A}">
                    <a16:rowId xmlns:a16="http://schemas.microsoft.com/office/drawing/2014/main" val="3094312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01184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E5299E-6DB0-C6E9-DA3B-34EE0E109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8EFBFF0-24E7-C8B6-B4FD-FAEA3881D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1CC3CE-B1ED-7751-2D22-778B1DA28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sz="3200" dirty="0"/>
              <a:t>Skin Infections</a:t>
            </a:r>
            <a:endParaRPr lang="en-US" sz="3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7E71AC-FA39-5EB2-B3CB-1249E5F70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2AE1F9-3BF1-78E4-ADEF-B0FAD8F86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CFCD31B-BC30-03C0-7CF9-BA686C549F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1202906"/>
              </p:ext>
            </p:extLst>
          </p:nvPr>
        </p:nvGraphicFramePr>
        <p:xfrm>
          <a:off x="838200" y="2578317"/>
          <a:ext cx="10515601" cy="305342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240964">
                  <a:extLst>
                    <a:ext uri="{9D8B030D-6E8A-4147-A177-3AD203B41FA5}">
                      <a16:colId xmlns:a16="http://schemas.microsoft.com/office/drawing/2014/main" val="622940223"/>
                    </a:ext>
                  </a:extLst>
                </a:gridCol>
                <a:gridCol w="4119897">
                  <a:extLst>
                    <a:ext uri="{9D8B030D-6E8A-4147-A177-3AD203B41FA5}">
                      <a16:colId xmlns:a16="http://schemas.microsoft.com/office/drawing/2014/main" val="1861596285"/>
                    </a:ext>
                  </a:extLst>
                </a:gridCol>
                <a:gridCol w="4154740">
                  <a:extLst>
                    <a:ext uri="{9D8B030D-6E8A-4147-A177-3AD203B41FA5}">
                      <a16:colId xmlns:a16="http://schemas.microsoft.com/office/drawing/2014/main" val="634197438"/>
                    </a:ext>
                  </a:extLst>
                </a:gridCol>
              </a:tblGrid>
              <a:tr h="375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Disease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Rule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Facts</a:t>
                      </a:r>
                      <a:endParaRPr lang="en-US" sz="1700"/>
                    </a:p>
                  </a:txBody>
                  <a:tcPr marL="85291" marR="85291" marT="42646" marB="42646" anchor="ctr"/>
                </a:tc>
                <a:extLst>
                  <a:ext uri="{0D108BD9-81ED-4DB2-BD59-A6C34878D82A}">
                    <a16:rowId xmlns:a16="http://schemas.microsoft.com/office/drawing/2014/main" val="2407551930"/>
                  </a:ext>
                </a:extLst>
              </a:tr>
              <a:tr h="2678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Warts (HPV)</a:t>
                      </a:r>
                      <a:endParaRPr lang="en-US" sz="1700" dirty="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@Rule(AND(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Warts(</a:t>
                      </a:r>
                      <a:r>
                        <a:rPr lang="en-US" sz="1700" dirty="0" err="1"/>
                        <a:t>firm_round_growths</a:t>
                      </a:r>
                      <a:r>
                        <a:rPr lang="en-US" sz="1700" dirty="0"/>
                        <a:t> = True),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Warts(</a:t>
                      </a:r>
                      <a:r>
                        <a:rPr lang="en-US" sz="1700" dirty="0" err="1"/>
                        <a:t>rough_surface</a:t>
                      </a:r>
                      <a:r>
                        <a:rPr lang="en-US" sz="1700" dirty="0"/>
                        <a:t> = True),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  Warts(</a:t>
                      </a:r>
                      <a:r>
                        <a:rPr lang="en-US" sz="1700" dirty="0" err="1"/>
                        <a:t>tiny_black_dots</a:t>
                      </a:r>
                      <a:r>
                        <a:rPr lang="en-US" sz="1700" dirty="0"/>
                        <a:t> = True)</a:t>
                      </a:r>
                    </a:p>
                    <a:p>
                      <a:pPr>
                        <a:buNone/>
                      </a:pPr>
                      <a:r>
                        <a:rPr lang="en-US" sz="1700" dirty="0"/>
                        <a:t>))</a:t>
                      </a:r>
                    </a:p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5291" marR="85291" marT="42646" marB="42646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firm, rough growths (often hands/feet)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tiny black “seed” dots (thrombosed capillaries)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caused by HPV; treatable with cryotherapy / topical </a:t>
                      </a:r>
                      <a:r>
                        <a:rPr lang="en-US" sz="1600" dirty="0" err="1"/>
                        <a:t>keratolytics</a:t>
                      </a:r>
                      <a:endParaRPr lang="en-US" sz="1600" dirty="0"/>
                    </a:p>
                    <a:p>
                      <a:pPr>
                        <a:buNone/>
                      </a:pPr>
                      <a:endParaRPr lang="en-US" sz="1700" dirty="0"/>
                    </a:p>
                  </a:txBody>
                  <a:tcPr marL="85291" marR="85291" marT="42646" marB="42646" anchor="ctr"/>
                </a:tc>
                <a:extLst>
                  <a:ext uri="{0D108BD9-81ED-4DB2-BD59-A6C34878D82A}">
                    <a16:rowId xmlns:a16="http://schemas.microsoft.com/office/drawing/2014/main" val="3094312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14031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F9FB07-06CF-46BC-391C-85734C3F6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/>
              <a:t>Data Flow Diagram </a:t>
            </a:r>
            <a:br>
              <a:rPr lang="en-US" sz="2800"/>
            </a:br>
            <a:r>
              <a:rPr lang="en-US" sz="2800"/>
              <a:t>( DFD )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BAA32-9940-DF17-DF84-5596F3322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/>
              <a:t>Context Diagram</a:t>
            </a:r>
          </a:p>
          <a:p>
            <a:pPr marL="0" indent="0">
              <a:buNone/>
            </a:pPr>
            <a:endParaRPr lang="en-US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81B364-4A05-D09B-DFA3-D325761C0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" r="259"/>
          <a:stretch/>
        </p:blipFill>
        <p:spPr>
          <a:xfrm>
            <a:off x="4901184" y="2449355"/>
            <a:ext cx="6922008" cy="205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294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5673D8-69F7-4B76-367F-4A3A3A2D8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/>
              <a:t>DFD ( Cont. 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449D7-FDD1-8371-CB6F-26D7D312F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/>
              <a:t>Level 1</a:t>
            </a:r>
          </a:p>
          <a:p>
            <a:pPr marL="0" indent="0">
              <a:buNone/>
            </a:pPr>
            <a:endParaRPr lang="en-US" sz="1700"/>
          </a:p>
        </p:txBody>
      </p:sp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3D9F829D-1494-3B7B-5E83-2B5CA2BF1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84" y="1272902"/>
            <a:ext cx="6922008" cy="441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2507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235691-80F0-DBB0-4816-D9C4B2AF0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/>
              <a:t>DFD ( Cont. 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2C7F9-86B4-05D1-B3A3-4C3711C23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/>
              <a:t>Level 2 — Detail for 2.0 AI Classification</a:t>
            </a:r>
          </a:p>
          <a:p>
            <a:pPr marL="0" indent="0">
              <a:buNone/>
            </a:pPr>
            <a:endParaRPr lang="en-US" sz="1700"/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BEE9FC4C-491F-7A1B-635D-36D8872177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623" y="489019"/>
            <a:ext cx="6837165" cy="587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22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58E896-B9D1-42FC-9ED8-EAE82D237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/>
              <a:t>DFD ( Cont. )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C5FD1-4E0C-7645-4939-AB4FA32A8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/>
              <a:t>Level 2 — Detail for 4.0 Rule-Based Symptom Analysis</a:t>
            </a:r>
          </a:p>
          <a:p>
            <a:endParaRPr lang="en-US" sz="1700"/>
          </a:p>
        </p:txBody>
      </p:sp>
      <p:pic>
        <p:nvPicPr>
          <p:cNvPr id="5" name="Picture 4" descr="A flowchart of a diagram&#10;&#10;AI-generated content may be incorrect.">
            <a:extLst>
              <a:ext uri="{FF2B5EF4-FFF2-40B4-BE49-F238E27FC236}">
                <a16:creationId xmlns:a16="http://schemas.microsoft.com/office/drawing/2014/main" id="{A4CEFDF5-9A8E-A098-4086-1583C3A964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610" y="339801"/>
            <a:ext cx="3984087" cy="637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7297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757226-B088-BFFC-732E-5BF5A6A18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/>
              <a:t>DFD ( Cont. 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2E8F0-4FBC-4FAB-C34F-5E7CF4226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/>
              <a:t>Level 2 — Detail for 5.0 Result Generation</a:t>
            </a:r>
          </a:p>
        </p:txBody>
      </p:sp>
      <p:pic>
        <p:nvPicPr>
          <p:cNvPr id="5" name="Picture 4" descr="A diagram of a flowchart&#10;&#10;AI-generated content may be incorrect.">
            <a:extLst>
              <a:ext uri="{FF2B5EF4-FFF2-40B4-BE49-F238E27FC236}">
                <a16:creationId xmlns:a16="http://schemas.microsoft.com/office/drawing/2014/main" id="{4750837C-3ED7-C7C6-B44C-A8CEACA2B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893" y="369299"/>
            <a:ext cx="5562354" cy="593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5692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7D430-F08C-4B6E-DB11-EA5076AD1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/>
              <a:t>ER Diagram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C3EF2B0-4371-B701-3742-D08C04D6E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/>
              <a:t>    </a:t>
            </a:r>
            <a:endParaRPr lang="en-US" sz="1700" dirty="0"/>
          </a:p>
        </p:txBody>
      </p:sp>
      <p:pic>
        <p:nvPicPr>
          <p:cNvPr id="5" name="Content Placeholder 4" descr="A diagram of a company&#10;&#10;AI-generated content may be incorrect.">
            <a:extLst>
              <a:ext uri="{FF2B5EF4-FFF2-40B4-BE49-F238E27FC236}">
                <a16:creationId xmlns:a16="http://schemas.microsoft.com/office/drawing/2014/main" id="{CD6D3B0E-5CC9-BF7F-FB4A-E7CD29FF8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84" y="1143114"/>
            <a:ext cx="6922008" cy="467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182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C9B446A-6343-4E56-90BA-061E4DDF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3EC72A1B-03D3-499C-B4BF-AC68EEC22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216322C2-3CF0-4D33-BF90-3F384CF6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105209-2DA0-0157-C9E9-22A1A8226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/>
              <a:t>Use Case Diagram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1E4E9A7-250D-A694-E5EF-6DD69D6F4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ar-EG" sz="1700" dirty="0"/>
              <a:t>    </a:t>
            </a:r>
            <a:endParaRPr lang="en-US" sz="17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EBBA1D-21B1-4849-B94D-E847C3000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40116" y="180451"/>
            <a:ext cx="6097276" cy="649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9013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5C9B446A-6343-4E56-90BA-061E4DDF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Freeform: Shape 33">
            <a:extLst>
              <a:ext uri="{FF2B5EF4-FFF2-40B4-BE49-F238E27FC236}">
                <a16:creationId xmlns:a16="http://schemas.microsoft.com/office/drawing/2014/main" id="{3EC72A1B-03D3-499C-B4BF-AC68EEC22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216322C2-3CF0-4D33-BF90-3F384CF6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C638A6-A91A-FBB0-02CD-876C72FA9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kern="1200" dirty="0">
                <a:latin typeface="+mj-lt"/>
                <a:ea typeface="+mj-ea"/>
                <a:cs typeface="+mj-cs"/>
              </a:rPr>
              <a:t>Sequence Diagram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F9C470FC-C886-4330-5958-7B20AD123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800" dirty="0"/>
              <a:t>User Login</a:t>
            </a:r>
            <a:endParaRPr lang="en-US" sz="1700" dirty="0"/>
          </a:p>
        </p:txBody>
      </p:sp>
      <p:pic>
        <p:nvPicPr>
          <p:cNvPr id="5" name="Content Placeholder 4" descr="A diagram of a software project&#10;&#10;AI-generated content may be incorrect.">
            <a:extLst>
              <a:ext uri="{FF2B5EF4-FFF2-40B4-BE49-F238E27FC236}">
                <a16:creationId xmlns:a16="http://schemas.microsoft.com/office/drawing/2014/main" id="{C82B88A1-DAF2-686C-80F8-3BA30AF55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970" y="843533"/>
            <a:ext cx="5387933" cy="52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6891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C9B446A-6343-4E56-90BA-061E4DDF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3EC72A1B-03D3-499C-B4BF-AC68EEC22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216322C2-3CF0-4D33-BF90-3F384CF6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3A116C-D9EC-4DA5-FD35-D31F89830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/>
              <a:t>Sequence Diagram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9CE785F-2731-D6CC-8607-E29C95BF2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 dirty="0"/>
              <a:t> </a:t>
            </a:r>
          </a:p>
        </p:txBody>
      </p:sp>
      <p:pic>
        <p:nvPicPr>
          <p:cNvPr id="5" name="Content Placeholder 4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E7106FA4-F186-CAEB-EC6C-D24B60265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189" y="1012547"/>
            <a:ext cx="7213294" cy="483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220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</TotalTime>
  <Words>1557</Words>
  <Application>Microsoft Office PowerPoint</Application>
  <PresentationFormat>Widescreen</PresentationFormat>
  <Paragraphs>206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 Time New</vt:lpstr>
      <vt:lpstr>Aptos</vt:lpstr>
      <vt:lpstr>Aptos Display</vt:lpstr>
      <vt:lpstr>Arial</vt:lpstr>
      <vt:lpstr>Calibri</vt:lpstr>
      <vt:lpstr>Office Theme</vt:lpstr>
      <vt:lpstr>AI-Derma System Analysis</vt:lpstr>
      <vt:lpstr>Agenda</vt:lpstr>
      <vt:lpstr>Problem Statement</vt:lpstr>
      <vt:lpstr>System Overview</vt:lpstr>
      <vt:lpstr>Objectives</vt:lpstr>
      <vt:lpstr>Workflow</vt:lpstr>
      <vt:lpstr>Disease Categorization</vt:lpstr>
      <vt:lpstr>Targeted Diseases </vt:lpstr>
      <vt:lpstr>Targeted Diseases ( Cont. )</vt:lpstr>
      <vt:lpstr>Knowledge Base  ( Rule-Based System ) </vt:lpstr>
      <vt:lpstr>Knowledge Base  ( Rule-Based System ) </vt:lpstr>
      <vt:lpstr>Knowledge Base  (Symptom-Based Only )</vt:lpstr>
      <vt:lpstr>Skin Rashes WITHOUT Fever</vt:lpstr>
      <vt:lpstr>Skin Rashes WITHOUT Fever</vt:lpstr>
      <vt:lpstr>Skin Rashes WITHOUT Fever</vt:lpstr>
      <vt:lpstr>Skin Rashes WITHOUT Fever</vt:lpstr>
      <vt:lpstr>Skin Rashes WITH Fever</vt:lpstr>
      <vt:lpstr>Skin Rashes WITH Fever</vt:lpstr>
      <vt:lpstr>Skin Rashes WITH Fever</vt:lpstr>
      <vt:lpstr>Skin Infections</vt:lpstr>
      <vt:lpstr>Skin Infections</vt:lpstr>
      <vt:lpstr>Data Flow Diagram  ( DFD ) </vt:lpstr>
      <vt:lpstr>DFD ( Cont. )</vt:lpstr>
      <vt:lpstr>DFD ( Cont. )</vt:lpstr>
      <vt:lpstr>DFD ( Cont. ) </vt:lpstr>
      <vt:lpstr>DFD ( Cont. )</vt:lpstr>
      <vt:lpstr>ER Diagram</vt:lpstr>
      <vt:lpstr>Use Case Diagram</vt:lpstr>
      <vt:lpstr>Sequence Diagram</vt:lpstr>
      <vt:lpstr>Sequence Diagram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مصطفى محمود حسانين محمد ( 323232388 )</dc:creator>
  <cp:lastModifiedBy>مصطفى محمود حسانين محمد ( 323232388 )</cp:lastModifiedBy>
  <cp:revision>7</cp:revision>
  <dcterms:created xsi:type="dcterms:W3CDTF">2025-11-25T15:41:30Z</dcterms:created>
  <dcterms:modified xsi:type="dcterms:W3CDTF">2025-12-02T11:53:51Z</dcterms:modified>
</cp:coreProperties>
</file>